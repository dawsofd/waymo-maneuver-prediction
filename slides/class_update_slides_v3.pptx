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update, we went back and fixed a real bug in our road geometry feature. Our panoramic camera frame is actually three stitched camera views, and our original pipeline was running line detection across all three at once, mixing lines from different camera perspectives into one vanishing-point estimate -- which is why some vanishing points landed outside the image. We fixed it by restricting to the front-center segment and filtering lines by convergence. Right-turn keeps nearly all its lines; lane-change-left correctly throws out power lines and tree branches. Honest result: geometry is correct now, but accuracy didn't move -- SVM matches the old version to three decimals. Road segmentation, not the line/VP part, was already carrying the signal.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three pretrained CNN embeddings. YOLOv8's backbone is our main one since we already run YOLO for detections elsewhere -- this embedding is essentially free. Compared against MobileNetV2 (lightweight, classification-pretrained) and ViT-B/16 (global self-attention instead of convolutions). Individually, MobileNetV2 edges out both YOLO and ViT (0.597 vs 0.565 and 0.559 RF) -- weak evidence a classification objective transfers a bit better here. But stack all three together and accuracy still caps at exactly 0.657 SVM, same as YOLO alone. Architecture choice isn't the bottleneck.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does that 0.657 come from, and where does it break down? Straight and right-turn are learned reasonably well (recall 0.84 / 0.69). Left-turn is a real weak spot at 0.33 recall -- basically a coin flip with straight or right-turn. The real story is the two lane-change classes: recall 0.06 and 0.09, the model almost never predicts them, but precision is a perfect 1.00 on the rare hits -- it's not confused, just never confident enough. Combined with everything else tested this week (road geometry, three CNNs, vehicle occupancy), nothing moved past this ceiling. This isn't a feature-engineering problem anymore -- it's a data problem (not enough lane-change examples) or a scope problem (single-frame only this term). Multi-frame context is the next lever, scoped for v2.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visual confirmation of everything just said -- t-SNE on all ten feature sets, same 1,875 sequences, colored by maneuver class. Every panel shows the same overlapping blob with no class separation. YOLO's panel looks different at first -- tight little clusters -- but those clusters mix all five classes; it's clustering by scene content, not maneuver. Not a projection fluke -- it's the same story the classifier numbers tell. This looks like a real information ceiling for single-frame classification, not a modeling gap -- which is what points toward multi-frame context as the next real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Road Geometry v2</a:t>
            </a:r>
            <a:endParaRPr lang="en-US" sz="34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500" dirty="0">
                <a:solidFill>
                  <a:srgbClr val="00C4B4"/>
                </a:solidFill>
                <a:latin typeface="Arial" pitchFamily="34" charset="0"/>
                <a:ea typeface="Arial" pitchFamily="34" charset="-122"/>
                <a:cs typeface="Arial" pitchFamily="34" charset="-120"/>
              </a:rPr>
              <a:t>Fixing the Hough+VP camera-stitch bug — one example per maneuver class</a:t>
            </a:r>
            <a:endParaRPr lang="en-US" sz="1500" dirty="0"/>
          </a:p>
        </p:txBody>
      </p:sp>
      <p:pic>
        <p:nvPicPr>
          <p:cNvPr id="4" name="Image 0" descr="road_v2_visualization.png">    </p:cNvPr>
          <p:cNvPicPr>
            <a:picLocks noChangeAspect="1"/>
          </p:cNvPicPr>
          <p:nvPr/>
        </p:nvPicPr>
        <p:blipFill>
          <a:blip r:embed="rId1"/>
          <a:stretch>
            <a:fillRect/>
          </a:stretch>
        </p:blipFill>
        <p:spPr>
          <a:xfrm>
            <a:off x="571500" y="1298448"/>
            <a:ext cx="8001000" cy="1714500"/>
          </a:xfrm>
          <a:prstGeom prst="rect">
            <a:avLst/>
          </a:prstGeom>
        </p:spPr>
      </p:pic>
      <p:sp>
        <p:nvSpPr>
          <p:cNvPr id="5" name="Shape 2"/>
          <p:cNvSpPr/>
          <p:nvPr/>
        </p:nvSpPr>
        <p:spPr>
          <a:xfrm>
            <a:off x="457200" y="3177540"/>
            <a:ext cx="2572512" cy="1691640"/>
          </a:xfrm>
          <a:prstGeom prst="roundRect">
            <a:avLst>
              <a:gd name="adj" fmla="val 4324"/>
            </a:avLst>
          </a:prstGeom>
          <a:solidFill>
            <a:srgbClr val="162030"/>
          </a:solidFill>
          <a:ln/>
        </p:spPr>
      </p:sp>
      <p:sp>
        <p:nvSpPr>
          <p:cNvPr id="6" name="Shape 3"/>
          <p:cNvSpPr/>
          <p:nvPr/>
        </p:nvSpPr>
        <p:spPr>
          <a:xfrm>
            <a:off x="621792" y="3296412"/>
            <a:ext cx="1051560" cy="274320"/>
          </a:xfrm>
          <a:prstGeom prst="roundRect">
            <a:avLst>
              <a:gd name="adj" fmla="val 50000"/>
            </a:avLst>
          </a:prstGeom>
          <a:solidFill>
            <a:srgbClr val="107470"/>
          </a:solidFill>
          <a:ln/>
        </p:spPr>
      </p:sp>
      <p:sp>
        <p:nvSpPr>
          <p:cNvPr id="7" name="Text 4"/>
          <p:cNvSpPr/>
          <p:nvPr/>
        </p:nvSpPr>
        <p:spPr>
          <a:xfrm>
            <a:off x="621792" y="3296412"/>
            <a:ext cx="1051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Bug fixed</a:t>
            </a:r>
            <a:endParaRPr lang="en-US" sz="1050" dirty="0"/>
          </a:p>
        </p:txBody>
      </p:sp>
      <p:sp>
        <p:nvSpPr>
          <p:cNvPr id="8" name="Text 5"/>
          <p:cNvSpPr/>
          <p:nvPr/>
        </p:nvSpPr>
        <p:spPr>
          <a:xfrm>
            <a:off x="621792" y="3616452"/>
            <a:ext cx="2243328"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Front-center only</a:t>
            </a:r>
            <a:endParaRPr lang="en-US" sz="1350" dirty="0"/>
          </a:p>
        </p:txBody>
      </p:sp>
      <p:sp>
        <p:nvSpPr>
          <p:cNvPr id="9" name="Text 6"/>
          <p:cNvSpPr/>
          <p:nvPr/>
        </p:nvSpPr>
        <p:spPr>
          <a:xfrm>
            <a:off x="621792" y="3945636"/>
            <a:ext cx="2243328" cy="813816"/>
          </a:xfrm>
          <a:prstGeom prst="rect">
            <a:avLst/>
          </a:prstGeom>
          <a:noFill/>
          <a:ln/>
        </p:spPr>
        <p:txBody>
          <a:bodyPr wrap="square" lIns="0" tIns="0" rIns="0" bIns="0" rtlCol="0" anchor="t"/>
          <a:lstStyle/>
          <a:p>
            <a:pPr indent="0" marL="0">
              <a:lnSpc>
                <a:spcPct val="115000"/>
              </a:lnSpc>
              <a:buNone/>
            </a:pPr>
            <a:r>
              <a:rPr lang="en-US" sz="1000" dirty="0">
                <a:solidFill>
                  <a:srgbClr val="A8B5BD"/>
                </a:solidFill>
                <a:latin typeface="Arial" pitchFamily="34" charset="0"/>
                <a:ea typeface="Arial" pitchFamily="34" charset="-122"/>
                <a:cs typeface="Arial" pitchFamily="34" charset="-120"/>
              </a:rPr>
              <a:t>v1 ran Hough+VP across the full 3-camera stitched panorama. v2 restricts to the front-center segment, so vanishing points land inside frame bounds every time.</a:t>
            </a:r>
            <a:endParaRPr lang="en-US" sz="1000" dirty="0"/>
          </a:p>
        </p:txBody>
      </p:sp>
      <p:sp>
        <p:nvSpPr>
          <p:cNvPr id="10" name="Shape 7"/>
          <p:cNvSpPr/>
          <p:nvPr/>
        </p:nvSpPr>
        <p:spPr>
          <a:xfrm>
            <a:off x="3285744" y="3177540"/>
            <a:ext cx="2572512" cy="1691640"/>
          </a:xfrm>
          <a:prstGeom prst="roundRect">
            <a:avLst>
              <a:gd name="adj" fmla="val 4324"/>
            </a:avLst>
          </a:prstGeom>
          <a:solidFill>
            <a:srgbClr val="162030"/>
          </a:solidFill>
          <a:ln/>
        </p:spPr>
      </p:sp>
      <p:sp>
        <p:nvSpPr>
          <p:cNvPr id="11" name="Shape 8"/>
          <p:cNvSpPr/>
          <p:nvPr/>
        </p:nvSpPr>
        <p:spPr>
          <a:xfrm>
            <a:off x="3450336" y="3296412"/>
            <a:ext cx="1051560" cy="274320"/>
          </a:xfrm>
          <a:prstGeom prst="roundRect">
            <a:avLst>
              <a:gd name="adj" fmla="val 50000"/>
            </a:avLst>
          </a:prstGeom>
          <a:solidFill>
            <a:srgbClr val="107470"/>
          </a:solidFill>
          <a:ln/>
        </p:spPr>
      </p:sp>
      <p:sp>
        <p:nvSpPr>
          <p:cNvPr id="12" name="Text 9"/>
          <p:cNvSpPr/>
          <p:nvPr/>
        </p:nvSpPr>
        <p:spPr>
          <a:xfrm>
            <a:off x="3450336" y="3296412"/>
            <a:ext cx="1051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Filtering works</a:t>
            </a:r>
            <a:endParaRPr lang="en-US" sz="1050" dirty="0"/>
          </a:p>
        </p:txBody>
      </p:sp>
      <p:sp>
        <p:nvSpPr>
          <p:cNvPr id="13" name="Text 10"/>
          <p:cNvSpPr/>
          <p:nvPr/>
        </p:nvSpPr>
        <p:spPr>
          <a:xfrm>
            <a:off x="3450336" y="3616452"/>
            <a:ext cx="2243328"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Inliers reject noise</a:t>
            </a:r>
            <a:endParaRPr lang="en-US" sz="1350" dirty="0"/>
          </a:p>
        </p:txBody>
      </p:sp>
      <p:sp>
        <p:nvSpPr>
          <p:cNvPr id="14" name="Text 11"/>
          <p:cNvSpPr/>
          <p:nvPr/>
        </p:nvSpPr>
        <p:spPr>
          <a:xfrm>
            <a:off x="3450336" y="3945636"/>
            <a:ext cx="2243328" cy="813816"/>
          </a:xfrm>
          <a:prstGeom prst="rect">
            <a:avLst/>
          </a:prstGeom>
          <a:noFill/>
          <a:ln/>
        </p:spPr>
        <p:txBody>
          <a:bodyPr wrap="square" lIns="0" tIns="0" rIns="0" bIns="0" rtlCol="0" anchor="t"/>
          <a:lstStyle/>
          <a:p>
            <a:pPr indent="0" marL="0">
              <a:lnSpc>
                <a:spcPct val="115000"/>
              </a:lnSpc>
              <a:buNone/>
            </a:pPr>
            <a:r>
              <a:rPr lang="en-US" sz="1000" dirty="0">
                <a:solidFill>
                  <a:srgbClr val="A8B5BD"/>
                </a:solidFill>
                <a:latin typeface="Arial" pitchFamily="34" charset="0"/>
                <a:ea typeface="Arial" pitchFamily="34" charset="-122"/>
                <a:cs typeface="Arial" pitchFamily="34" charset="-120"/>
              </a:rPr>
              <a:t>Right-turn keeps 18/18 converging lines; lane-change-left drops to 9/16, correctly rejecting power lines and tree branches.</a:t>
            </a:r>
            <a:endParaRPr lang="en-US" sz="1000" dirty="0"/>
          </a:p>
        </p:txBody>
      </p:sp>
      <p:sp>
        <p:nvSpPr>
          <p:cNvPr id="15" name="Shape 12"/>
          <p:cNvSpPr/>
          <p:nvPr/>
        </p:nvSpPr>
        <p:spPr>
          <a:xfrm>
            <a:off x="6114288" y="3177540"/>
            <a:ext cx="2572512" cy="1691640"/>
          </a:xfrm>
          <a:prstGeom prst="roundRect">
            <a:avLst>
              <a:gd name="adj" fmla="val 4324"/>
            </a:avLst>
          </a:prstGeom>
          <a:solidFill>
            <a:srgbClr val="162030"/>
          </a:solidFill>
          <a:ln/>
        </p:spPr>
      </p:sp>
      <p:sp>
        <p:nvSpPr>
          <p:cNvPr id="16" name="Shape 13"/>
          <p:cNvSpPr/>
          <p:nvPr/>
        </p:nvSpPr>
        <p:spPr>
          <a:xfrm>
            <a:off x="6278880" y="3296412"/>
            <a:ext cx="1051560" cy="274320"/>
          </a:xfrm>
          <a:prstGeom prst="roundRect">
            <a:avLst>
              <a:gd name="adj" fmla="val 50000"/>
            </a:avLst>
          </a:prstGeom>
          <a:solidFill>
            <a:srgbClr val="5D2E32"/>
          </a:solidFill>
          <a:ln/>
        </p:spPr>
      </p:sp>
      <p:sp>
        <p:nvSpPr>
          <p:cNvPr id="17" name="Text 14"/>
          <p:cNvSpPr/>
          <p:nvPr/>
        </p:nvSpPr>
        <p:spPr>
          <a:xfrm>
            <a:off x="6278880" y="3296412"/>
            <a:ext cx="1051560" cy="274320"/>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But…</a:t>
            </a:r>
            <a:endParaRPr lang="en-US" sz="1050" dirty="0"/>
          </a:p>
        </p:txBody>
      </p:sp>
      <p:sp>
        <p:nvSpPr>
          <p:cNvPr id="18" name="Text 15"/>
          <p:cNvSpPr/>
          <p:nvPr/>
        </p:nvSpPr>
        <p:spPr>
          <a:xfrm>
            <a:off x="6278880" y="3616452"/>
            <a:ext cx="2243328" cy="292608"/>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Accuracy unchanged</a:t>
            </a:r>
            <a:endParaRPr lang="en-US" sz="1350" dirty="0"/>
          </a:p>
        </p:txBody>
      </p:sp>
      <p:sp>
        <p:nvSpPr>
          <p:cNvPr id="19" name="Text 16"/>
          <p:cNvSpPr/>
          <p:nvPr/>
        </p:nvSpPr>
        <p:spPr>
          <a:xfrm>
            <a:off x="6278880" y="3945636"/>
            <a:ext cx="2243328" cy="813816"/>
          </a:xfrm>
          <a:prstGeom prst="rect">
            <a:avLst/>
          </a:prstGeom>
          <a:noFill/>
          <a:ln/>
        </p:spPr>
        <p:txBody>
          <a:bodyPr wrap="square" lIns="0" tIns="0" rIns="0" bIns="0" rtlCol="0" anchor="t"/>
          <a:lstStyle/>
          <a:p>
            <a:pPr indent="0" marL="0">
              <a:lnSpc>
                <a:spcPct val="115000"/>
              </a:lnSpc>
              <a:buNone/>
            </a:pPr>
            <a:r>
              <a:rPr lang="en-US" sz="1000" dirty="0">
                <a:solidFill>
                  <a:srgbClr val="A8B5BD"/>
                </a:solidFill>
                <a:latin typeface="Arial" pitchFamily="34" charset="0"/>
                <a:ea typeface="Arial" pitchFamily="34" charset="-122"/>
                <a:cs typeface="Arial" pitchFamily="34" charset="-120"/>
              </a:rPr>
              <a:t>SVM matches v1 to 3 decimals (0.657) either way. Road segmentation, not Hough/VP, was already carrying the signal.</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Pretrained CNN Embeddings</a:t>
            </a:r>
            <a:endParaRPr lang="en-US" sz="34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500" dirty="0">
                <a:solidFill>
                  <a:srgbClr val="00C4B4"/>
                </a:solidFill>
                <a:latin typeface="Arial" pitchFamily="34" charset="0"/>
                <a:ea typeface="Arial" pitchFamily="34" charset="-122"/>
                <a:cs typeface="Arial" pitchFamily="34" charset="-120"/>
              </a:rPr>
              <a:t>YOLOv8s (main CNN) + MobileNetV2 + ViT-B/16 — real SVM/RF accuracy</a:t>
            </a:r>
            <a:endParaRPr lang="en-US" sz="1500" dirty="0"/>
          </a:p>
        </p:txBody>
      </p:sp>
      <p:sp>
        <p:nvSpPr>
          <p:cNvPr id="4" name="Shape 2"/>
          <p:cNvSpPr/>
          <p:nvPr/>
        </p:nvSpPr>
        <p:spPr>
          <a:xfrm>
            <a:off x="457200" y="1344168"/>
            <a:ext cx="2596896" cy="1965960"/>
          </a:xfrm>
          <a:prstGeom prst="roundRect">
            <a:avLst>
              <a:gd name="adj" fmla="val 3721"/>
            </a:avLst>
          </a:prstGeom>
          <a:solidFill>
            <a:srgbClr val="162030"/>
          </a:solidFill>
          <a:ln/>
        </p:spPr>
      </p:sp>
      <p:sp>
        <p:nvSpPr>
          <p:cNvPr id="5" name="Shape 3"/>
          <p:cNvSpPr/>
          <p:nvPr/>
        </p:nvSpPr>
        <p:spPr>
          <a:xfrm>
            <a:off x="640080" y="1527048"/>
            <a:ext cx="347472" cy="347472"/>
          </a:xfrm>
          <a:prstGeom prst="ellipse">
            <a:avLst/>
          </a:prstGeom>
          <a:solidFill>
            <a:srgbClr val="00C4B4"/>
          </a:solidFill>
          <a:ln/>
        </p:spPr>
      </p:sp>
      <p:sp>
        <p:nvSpPr>
          <p:cNvPr id="6" name="Text 4"/>
          <p:cNvSpPr/>
          <p:nvPr/>
        </p:nvSpPr>
        <p:spPr>
          <a:xfrm>
            <a:off x="640080" y="1527048"/>
            <a:ext cx="347472" cy="347472"/>
          </a:xfrm>
          <a:prstGeom prst="rect">
            <a:avLst/>
          </a:prstGeom>
          <a:noFill/>
          <a:ln/>
        </p:spPr>
        <p:txBody>
          <a:bodyPr wrap="square" lIns="0" tIns="0" rIns="0" bIns="0" rtlCol="0" anchor="ctr"/>
          <a:lstStyle/>
          <a:p>
            <a:pPr algn="ctr" indent="0" marL="0">
              <a:buNone/>
            </a:pPr>
            <a:r>
              <a:rPr lang="en-US" sz="1200" b="1" dirty="0">
                <a:solidFill>
                  <a:srgbClr val="0D1B2A"/>
                </a:solidFill>
                <a:latin typeface="Arial" pitchFamily="34" charset="0"/>
                <a:ea typeface="Arial" pitchFamily="34" charset="-122"/>
                <a:cs typeface="Arial" pitchFamily="34" charset="-120"/>
              </a:rPr>
              <a:t>01</a:t>
            </a:r>
            <a:endParaRPr lang="en-US" sz="1200" dirty="0"/>
          </a:p>
        </p:txBody>
      </p:sp>
      <p:sp>
        <p:nvSpPr>
          <p:cNvPr id="7" name="Text 5"/>
          <p:cNvSpPr/>
          <p:nvPr/>
        </p:nvSpPr>
        <p:spPr>
          <a:xfrm>
            <a:off x="1078992" y="1527048"/>
            <a:ext cx="1810512" cy="347472"/>
          </a:xfrm>
          <a:prstGeom prst="rect">
            <a:avLst/>
          </a:prstGeom>
          <a:noFill/>
          <a:ln/>
        </p:spPr>
        <p:txBody>
          <a:bodyPr wrap="square" lIns="0" tIns="0" rIns="0" bIns="0" rtlCol="0" anchor="ctr"/>
          <a:lstStyle/>
          <a:p>
            <a:pPr indent="0" marL="0">
              <a:buNone/>
            </a:pPr>
            <a:r>
              <a:rPr lang="en-US" sz="900" b="1" spc="50" kern="0" dirty="0">
                <a:solidFill>
                  <a:srgbClr val="00C4B4"/>
                </a:solidFill>
                <a:latin typeface="Arial" pitchFamily="34" charset="0"/>
                <a:ea typeface="Arial" pitchFamily="34" charset="-122"/>
                <a:cs typeface="Arial" pitchFamily="34" charset="-120"/>
              </a:rPr>
              <a:t>MAIN CNN</a:t>
            </a:r>
            <a:endParaRPr lang="en-US" sz="900" dirty="0"/>
          </a:p>
        </p:txBody>
      </p:sp>
      <p:sp>
        <p:nvSpPr>
          <p:cNvPr id="8" name="Text 6"/>
          <p:cNvSpPr/>
          <p:nvPr/>
        </p:nvSpPr>
        <p:spPr>
          <a:xfrm>
            <a:off x="640080" y="1874520"/>
            <a:ext cx="2231136" cy="347472"/>
          </a:xfrm>
          <a:prstGeom prst="rect">
            <a:avLst/>
          </a:prstGeom>
          <a:noFill/>
          <a:ln/>
        </p:spPr>
        <p:txBody>
          <a:bodyPr wrap="square" lIns="0" tIns="0" rIns="0" bIns="0" rtlCol="0" anchor="ctr"/>
          <a:lstStyle/>
          <a:p>
            <a:pPr indent="0" marL="0">
              <a:buNone/>
            </a:pPr>
            <a:r>
              <a:rPr lang="en-US" sz="1650" b="1" dirty="0">
                <a:solidFill>
                  <a:srgbClr val="FFFFFF"/>
                </a:solidFill>
                <a:latin typeface="Arial" pitchFamily="34" charset="0"/>
                <a:ea typeface="Arial" pitchFamily="34" charset="-122"/>
                <a:cs typeface="Arial" pitchFamily="34" charset="-120"/>
              </a:rPr>
              <a:t>YOLOv8s Backbone</a:t>
            </a:r>
            <a:endParaRPr lang="en-US" sz="1650" dirty="0"/>
          </a:p>
        </p:txBody>
      </p:sp>
      <p:sp>
        <p:nvSpPr>
          <p:cNvPr id="9" name="Text 7"/>
          <p:cNvSpPr/>
          <p:nvPr/>
        </p:nvSpPr>
        <p:spPr>
          <a:xfrm>
            <a:off x="640080" y="2240280"/>
            <a:ext cx="2231136" cy="566928"/>
          </a:xfrm>
          <a:prstGeom prst="rect">
            <a:avLst/>
          </a:prstGeom>
          <a:noFill/>
          <a:ln/>
        </p:spPr>
        <p:txBody>
          <a:bodyPr wrap="square" lIns="0" tIns="0" rIns="0" bIns="0" rtlCol="0" anchor="ctr"/>
          <a:lstStyle/>
          <a:p>
            <a:pPr indent="0" marL="0">
              <a:lnSpc>
                <a:spcPct val="115000"/>
              </a:lnSpc>
              <a:buNone/>
            </a:pPr>
            <a:r>
              <a:rPr lang="en-US" sz="950" dirty="0">
                <a:solidFill>
                  <a:srgbClr val="A8B5BD"/>
                </a:solidFill>
                <a:latin typeface="Arial" pitchFamily="34" charset="0"/>
                <a:ea typeface="Arial" pitchFamily="34" charset="-122"/>
                <a:cs typeface="Arial" pitchFamily="34" charset="-120"/>
              </a:rPr>
              <a:t>Detection-pretrained (COCO). Already powers the YOLO+Position feature elsewhere in this pipeline.</a:t>
            </a:r>
            <a:endParaRPr lang="en-US" sz="950" dirty="0"/>
          </a:p>
        </p:txBody>
      </p:sp>
      <p:sp>
        <p:nvSpPr>
          <p:cNvPr id="10" name="Shape 8"/>
          <p:cNvSpPr/>
          <p:nvPr/>
        </p:nvSpPr>
        <p:spPr>
          <a:xfrm>
            <a:off x="640080" y="2825496"/>
            <a:ext cx="694944" cy="329184"/>
          </a:xfrm>
          <a:prstGeom prst="roundRect">
            <a:avLst>
              <a:gd name="adj" fmla="val 16667"/>
            </a:avLst>
          </a:prstGeom>
          <a:solidFill>
            <a:srgbClr val="0D2A28"/>
          </a:solidFill>
          <a:ln/>
        </p:spPr>
      </p:sp>
      <p:sp>
        <p:nvSpPr>
          <p:cNvPr id="11" name="Text 9"/>
          <p:cNvSpPr/>
          <p:nvPr/>
        </p:nvSpPr>
        <p:spPr>
          <a:xfrm>
            <a:off x="640080"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512d</a:t>
            </a:r>
            <a:endParaRPr lang="en-US" sz="900" dirty="0"/>
          </a:p>
        </p:txBody>
      </p:sp>
      <p:sp>
        <p:nvSpPr>
          <p:cNvPr id="12" name="Shape 10"/>
          <p:cNvSpPr/>
          <p:nvPr/>
        </p:nvSpPr>
        <p:spPr>
          <a:xfrm>
            <a:off x="1408176" y="2825496"/>
            <a:ext cx="694944" cy="329184"/>
          </a:xfrm>
          <a:prstGeom prst="roundRect">
            <a:avLst>
              <a:gd name="adj" fmla="val 16667"/>
            </a:avLst>
          </a:prstGeom>
          <a:solidFill>
            <a:srgbClr val="0D2A28"/>
          </a:solidFill>
          <a:ln/>
        </p:spPr>
      </p:sp>
      <p:sp>
        <p:nvSpPr>
          <p:cNvPr id="13" name="Text 11"/>
          <p:cNvSpPr/>
          <p:nvPr/>
        </p:nvSpPr>
        <p:spPr>
          <a:xfrm>
            <a:off x="1408176"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SVM .533</a:t>
            </a:r>
            <a:endParaRPr lang="en-US" sz="900" dirty="0"/>
          </a:p>
        </p:txBody>
      </p:sp>
      <p:sp>
        <p:nvSpPr>
          <p:cNvPr id="14" name="Shape 12"/>
          <p:cNvSpPr/>
          <p:nvPr/>
        </p:nvSpPr>
        <p:spPr>
          <a:xfrm>
            <a:off x="2176272" y="2825496"/>
            <a:ext cx="694944" cy="329184"/>
          </a:xfrm>
          <a:prstGeom prst="roundRect">
            <a:avLst>
              <a:gd name="adj" fmla="val 16667"/>
            </a:avLst>
          </a:prstGeom>
          <a:solidFill>
            <a:srgbClr val="0D2A28"/>
          </a:solidFill>
          <a:ln/>
        </p:spPr>
      </p:sp>
      <p:sp>
        <p:nvSpPr>
          <p:cNvPr id="15" name="Text 13"/>
          <p:cNvSpPr/>
          <p:nvPr/>
        </p:nvSpPr>
        <p:spPr>
          <a:xfrm>
            <a:off x="2176272"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RF .565</a:t>
            </a:r>
            <a:endParaRPr lang="en-US" sz="900" dirty="0"/>
          </a:p>
        </p:txBody>
      </p:sp>
      <p:sp>
        <p:nvSpPr>
          <p:cNvPr id="16" name="Shape 14"/>
          <p:cNvSpPr/>
          <p:nvPr/>
        </p:nvSpPr>
        <p:spPr>
          <a:xfrm>
            <a:off x="3273552" y="1344168"/>
            <a:ext cx="2596896" cy="1965960"/>
          </a:xfrm>
          <a:prstGeom prst="roundRect">
            <a:avLst>
              <a:gd name="adj" fmla="val 3721"/>
            </a:avLst>
          </a:prstGeom>
          <a:solidFill>
            <a:srgbClr val="162030"/>
          </a:solidFill>
          <a:ln/>
        </p:spPr>
      </p:sp>
      <p:sp>
        <p:nvSpPr>
          <p:cNvPr id="17" name="Shape 15"/>
          <p:cNvSpPr/>
          <p:nvPr/>
        </p:nvSpPr>
        <p:spPr>
          <a:xfrm>
            <a:off x="3456432" y="1527048"/>
            <a:ext cx="347472" cy="347472"/>
          </a:xfrm>
          <a:prstGeom prst="ellipse">
            <a:avLst/>
          </a:prstGeom>
          <a:solidFill>
            <a:srgbClr val="00C4B4"/>
          </a:solidFill>
          <a:ln/>
        </p:spPr>
      </p:sp>
      <p:sp>
        <p:nvSpPr>
          <p:cNvPr id="18" name="Text 16"/>
          <p:cNvSpPr/>
          <p:nvPr/>
        </p:nvSpPr>
        <p:spPr>
          <a:xfrm>
            <a:off x="3456432" y="1527048"/>
            <a:ext cx="347472" cy="347472"/>
          </a:xfrm>
          <a:prstGeom prst="rect">
            <a:avLst/>
          </a:prstGeom>
          <a:noFill/>
          <a:ln/>
        </p:spPr>
        <p:txBody>
          <a:bodyPr wrap="square" lIns="0" tIns="0" rIns="0" bIns="0" rtlCol="0" anchor="ctr"/>
          <a:lstStyle/>
          <a:p>
            <a:pPr algn="ctr" indent="0" marL="0">
              <a:buNone/>
            </a:pPr>
            <a:r>
              <a:rPr lang="en-US" sz="1200" b="1" dirty="0">
                <a:solidFill>
                  <a:srgbClr val="0D1B2A"/>
                </a:solidFill>
                <a:latin typeface="Arial" pitchFamily="34" charset="0"/>
                <a:ea typeface="Arial" pitchFamily="34" charset="-122"/>
                <a:cs typeface="Arial" pitchFamily="34" charset="-120"/>
              </a:rPr>
              <a:t>02</a:t>
            </a:r>
            <a:endParaRPr lang="en-US" sz="1200" dirty="0"/>
          </a:p>
        </p:txBody>
      </p:sp>
      <p:sp>
        <p:nvSpPr>
          <p:cNvPr id="19" name="Text 17"/>
          <p:cNvSpPr/>
          <p:nvPr/>
        </p:nvSpPr>
        <p:spPr>
          <a:xfrm>
            <a:off x="3895344" y="1527048"/>
            <a:ext cx="1810512" cy="347472"/>
          </a:xfrm>
          <a:prstGeom prst="rect">
            <a:avLst/>
          </a:prstGeom>
          <a:noFill/>
          <a:ln/>
        </p:spPr>
        <p:txBody>
          <a:bodyPr wrap="square" lIns="0" tIns="0" rIns="0" bIns="0" rtlCol="0" anchor="ctr"/>
          <a:lstStyle/>
          <a:p>
            <a:pPr indent="0" marL="0">
              <a:buNone/>
            </a:pPr>
            <a:r>
              <a:rPr lang="en-US" sz="900" b="1" spc="50" kern="0" dirty="0">
                <a:solidFill>
                  <a:srgbClr val="00C4B4"/>
                </a:solidFill>
                <a:latin typeface="Arial" pitchFamily="34" charset="0"/>
                <a:ea typeface="Arial" pitchFamily="34" charset="-122"/>
                <a:cs typeface="Arial" pitchFamily="34" charset="-120"/>
              </a:rPr>
              <a:t>CLASSIFICATION</a:t>
            </a:r>
            <a:endParaRPr lang="en-US" sz="900" dirty="0"/>
          </a:p>
        </p:txBody>
      </p:sp>
      <p:sp>
        <p:nvSpPr>
          <p:cNvPr id="20" name="Text 18"/>
          <p:cNvSpPr/>
          <p:nvPr/>
        </p:nvSpPr>
        <p:spPr>
          <a:xfrm>
            <a:off x="3456432" y="1874520"/>
            <a:ext cx="2231136" cy="347472"/>
          </a:xfrm>
          <a:prstGeom prst="rect">
            <a:avLst/>
          </a:prstGeom>
          <a:noFill/>
          <a:ln/>
        </p:spPr>
        <p:txBody>
          <a:bodyPr wrap="square" lIns="0" tIns="0" rIns="0" bIns="0" rtlCol="0" anchor="ctr"/>
          <a:lstStyle/>
          <a:p>
            <a:pPr indent="0" marL="0">
              <a:buNone/>
            </a:pPr>
            <a:r>
              <a:rPr lang="en-US" sz="1650" b="1" dirty="0">
                <a:solidFill>
                  <a:srgbClr val="FFFFFF"/>
                </a:solidFill>
                <a:latin typeface="Arial" pitchFamily="34" charset="0"/>
                <a:ea typeface="Arial" pitchFamily="34" charset="-122"/>
                <a:cs typeface="Arial" pitchFamily="34" charset="-120"/>
              </a:rPr>
              <a:t>MobileNetV2</a:t>
            </a:r>
            <a:endParaRPr lang="en-US" sz="1650" dirty="0"/>
          </a:p>
        </p:txBody>
      </p:sp>
      <p:sp>
        <p:nvSpPr>
          <p:cNvPr id="21" name="Text 19"/>
          <p:cNvSpPr/>
          <p:nvPr/>
        </p:nvSpPr>
        <p:spPr>
          <a:xfrm>
            <a:off x="3456432" y="2240280"/>
            <a:ext cx="2231136" cy="566928"/>
          </a:xfrm>
          <a:prstGeom prst="rect">
            <a:avLst/>
          </a:prstGeom>
          <a:noFill/>
          <a:ln/>
        </p:spPr>
        <p:txBody>
          <a:bodyPr wrap="square" lIns="0" tIns="0" rIns="0" bIns="0" rtlCol="0" anchor="ctr"/>
          <a:lstStyle/>
          <a:p>
            <a:pPr indent="0" marL="0">
              <a:lnSpc>
                <a:spcPct val="115000"/>
              </a:lnSpc>
              <a:buNone/>
            </a:pPr>
            <a:r>
              <a:rPr lang="en-US" sz="950" dirty="0">
                <a:solidFill>
                  <a:srgbClr val="A8B5BD"/>
                </a:solidFill>
                <a:latin typeface="Arial" pitchFamily="34" charset="0"/>
                <a:ea typeface="Arial" pitchFamily="34" charset="-122"/>
                <a:cs typeface="Arial" pitchFamily="34" charset="-120"/>
              </a:rPr>
              <a:t>ImageNet-1k pretrained. Global-avg-pooled last conv layer as the embedding.</a:t>
            </a:r>
            <a:endParaRPr lang="en-US" sz="950" dirty="0"/>
          </a:p>
        </p:txBody>
      </p:sp>
      <p:sp>
        <p:nvSpPr>
          <p:cNvPr id="22" name="Shape 20"/>
          <p:cNvSpPr/>
          <p:nvPr/>
        </p:nvSpPr>
        <p:spPr>
          <a:xfrm>
            <a:off x="3456432" y="2825496"/>
            <a:ext cx="694944" cy="329184"/>
          </a:xfrm>
          <a:prstGeom prst="roundRect">
            <a:avLst>
              <a:gd name="adj" fmla="val 16667"/>
            </a:avLst>
          </a:prstGeom>
          <a:solidFill>
            <a:srgbClr val="0D2A28"/>
          </a:solidFill>
          <a:ln/>
        </p:spPr>
      </p:sp>
      <p:sp>
        <p:nvSpPr>
          <p:cNvPr id="23" name="Text 21"/>
          <p:cNvSpPr/>
          <p:nvPr/>
        </p:nvSpPr>
        <p:spPr>
          <a:xfrm>
            <a:off x="3456432"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1280d</a:t>
            </a:r>
            <a:endParaRPr lang="en-US" sz="900" dirty="0"/>
          </a:p>
        </p:txBody>
      </p:sp>
      <p:sp>
        <p:nvSpPr>
          <p:cNvPr id="24" name="Shape 22"/>
          <p:cNvSpPr/>
          <p:nvPr/>
        </p:nvSpPr>
        <p:spPr>
          <a:xfrm>
            <a:off x="4224528" y="2825496"/>
            <a:ext cx="694944" cy="329184"/>
          </a:xfrm>
          <a:prstGeom prst="roundRect">
            <a:avLst>
              <a:gd name="adj" fmla="val 16667"/>
            </a:avLst>
          </a:prstGeom>
          <a:solidFill>
            <a:srgbClr val="0D2A28"/>
          </a:solidFill>
          <a:ln/>
        </p:spPr>
      </p:sp>
      <p:sp>
        <p:nvSpPr>
          <p:cNvPr id="25" name="Text 23"/>
          <p:cNvSpPr/>
          <p:nvPr/>
        </p:nvSpPr>
        <p:spPr>
          <a:xfrm>
            <a:off x="4224528"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SVM .571</a:t>
            </a:r>
            <a:endParaRPr lang="en-US" sz="900" dirty="0"/>
          </a:p>
        </p:txBody>
      </p:sp>
      <p:sp>
        <p:nvSpPr>
          <p:cNvPr id="26" name="Shape 24"/>
          <p:cNvSpPr/>
          <p:nvPr/>
        </p:nvSpPr>
        <p:spPr>
          <a:xfrm>
            <a:off x="4992624" y="2825496"/>
            <a:ext cx="694944" cy="329184"/>
          </a:xfrm>
          <a:prstGeom prst="roundRect">
            <a:avLst>
              <a:gd name="adj" fmla="val 16667"/>
            </a:avLst>
          </a:prstGeom>
          <a:solidFill>
            <a:srgbClr val="0D2A28"/>
          </a:solidFill>
          <a:ln/>
        </p:spPr>
      </p:sp>
      <p:sp>
        <p:nvSpPr>
          <p:cNvPr id="27" name="Text 25"/>
          <p:cNvSpPr/>
          <p:nvPr/>
        </p:nvSpPr>
        <p:spPr>
          <a:xfrm>
            <a:off x="4992624"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RF .597</a:t>
            </a:r>
            <a:endParaRPr lang="en-US" sz="900" dirty="0"/>
          </a:p>
        </p:txBody>
      </p:sp>
      <p:sp>
        <p:nvSpPr>
          <p:cNvPr id="28" name="Shape 26"/>
          <p:cNvSpPr/>
          <p:nvPr/>
        </p:nvSpPr>
        <p:spPr>
          <a:xfrm>
            <a:off x="6089904" y="1344168"/>
            <a:ext cx="2596896" cy="1965960"/>
          </a:xfrm>
          <a:prstGeom prst="roundRect">
            <a:avLst>
              <a:gd name="adj" fmla="val 3721"/>
            </a:avLst>
          </a:prstGeom>
          <a:solidFill>
            <a:srgbClr val="162030"/>
          </a:solidFill>
          <a:ln/>
        </p:spPr>
      </p:sp>
      <p:sp>
        <p:nvSpPr>
          <p:cNvPr id="29" name="Shape 27"/>
          <p:cNvSpPr/>
          <p:nvPr/>
        </p:nvSpPr>
        <p:spPr>
          <a:xfrm>
            <a:off x="6272784" y="1527048"/>
            <a:ext cx="347472" cy="347472"/>
          </a:xfrm>
          <a:prstGeom prst="ellipse">
            <a:avLst/>
          </a:prstGeom>
          <a:solidFill>
            <a:srgbClr val="00C4B4"/>
          </a:solidFill>
          <a:ln/>
        </p:spPr>
      </p:sp>
      <p:sp>
        <p:nvSpPr>
          <p:cNvPr id="30" name="Text 28"/>
          <p:cNvSpPr/>
          <p:nvPr/>
        </p:nvSpPr>
        <p:spPr>
          <a:xfrm>
            <a:off x="6272784" y="1527048"/>
            <a:ext cx="347472" cy="347472"/>
          </a:xfrm>
          <a:prstGeom prst="rect">
            <a:avLst/>
          </a:prstGeom>
          <a:noFill/>
          <a:ln/>
        </p:spPr>
        <p:txBody>
          <a:bodyPr wrap="square" lIns="0" tIns="0" rIns="0" bIns="0" rtlCol="0" anchor="ctr"/>
          <a:lstStyle/>
          <a:p>
            <a:pPr algn="ctr" indent="0" marL="0">
              <a:buNone/>
            </a:pPr>
            <a:r>
              <a:rPr lang="en-US" sz="1200" b="1" dirty="0">
                <a:solidFill>
                  <a:srgbClr val="0D1B2A"/>
                </a:solidFill>
                <a:latin typeface="Arial" pitchFamily="34" charset="0"/>
                <a:ea typeface="Arial" pitchFamily="34" charset="-122"/>
                <a:cs typeface="Arial" pitchFamily="34" charset="-120"/>
              </a:rPr>
              <a:t>03</a:t>
            </a:r>
            <a:endParaRPr lang="en-US" sz="1200" dirty="0"/>
          </a:p>
        </p:txBody>
      </p:sp>
      <p:sp>
        <p:nvSpPr>
          <p:cNvPr id="31" name="Text 29"/>
          <p:cNvSpPr/>
          <p:nvPr/>
        </p:nvSpPr>
        <p:spPr>
          <a:xfrm>
            <a:off x="6711696" y="1527048"/>
            <a:ext cx="1810512" cy="347472"/>
          </a:xfrm>
          <a:prstGeom prst="rect">
            <a:avLst/>
          </a:prstGeom>
          <a:noFill/>
          <a:ln/>
        </p:spPr>
        <p:txBody>
          <a:bodyPr wrap="square" lIns="0" tIns="0" rIns="0" bIns="0" rtlCol="0" anchor="ctr"/>
          <a:lstStyle/>
          <a:p>
            <a:pPr indent="0" marL="0">
              <a:buNone/>
            </a:pPr>
            <a:r>
              <a:rPr lang="en-US" sz="900" b="1" spc="50" kern="0" dirty="0">
                <a:solidFill>
                  <a:srgbClr val="00C4B4"/>
                </a:solidFill>
                <a:latin typeface="Arial" pitchFamily="34" charset="0"/>
                <a:ea typeface="Arial" pitchFamily="34" charset="-122"/>
                <a:cs typeface="Arial" pitchFamily="34" charset="-120"/>
              </a:rPr>
              <a:t>SELF-ATTENTION</a:t>
            </a:r>
            <a:endParaRPr lang="en-US" sz="900" dirty="0"/>
          </a:p>
        </p:txBody>
      </p:sp>
      <p:sp>
        <p:nvSpPr>
          <p:cNvPr id="32" name="Text 30"/>
          <p:cNvSpPr/>
          <p:nvPr/>
        </p:nvSpPr>
        <p:spPr>
          <a:xfrm>
            <a:off x="6272784" y="1874520"/>
            <a:ext cx="2231136" cy="347472"/>
          </a:xfrm>
          <a:prstGeom prst="rect">
            <a:avLst/>
          </a:prstGeom>
          <a:noFill/>
          <a:ln/>
        </p:spPr>
        <p:txBody>
          <a:bodyPr wrap="square" lIns="0" tIns="0" rIns="0" bIns="0" rtlCol="0" anchor="ctr"/>
          <a:lstStyle/>
          <a:p>
            <a:pPr indent="0" marL="0">
              <a:buNone/>
            </a:pPr>
            <a:r>
              <a:rPr lang="en-US" sz="1650" b="1" dirty="0">
                <a:solidFill>
                  <a:srgbClr val="FFFFFF"/>
                </a:solidFill>
                <a:latin typeface="Arial" pitchFamily="34" charset="0"/>
                <a:ea typeface="Arial" pitchFamily="34" charset="-122"/>
                <a:cs typeface="Arial" pitchFamily="34" charset="-120"/>
              </a:rPr>
              <a:t>ViT-B/16</a:t>
            </a:r>
            <a:endParaRPr lang="en-US" sz="1650" dirty="0"/>
          </a:p>
        </p:txBody>
      </p:sp>
      <p:sp>
        <p:nvSpPr>
          <p:cNvPr id="33" name="Text 31"/>
          <p:cNvSpPr/>
          <p:nvPr/>
        </p:nvSpPr>
        <p:spPr>
          <a:xfrm>
            <a:off x="6272784" y="2240280"/>
            <a:ext cx="2231136" cy="566928"/>
          </a:xfrm>
          <a:prstGeom prst="rect">
            <a:avLst/>
          </a:prstGeom>
          <a:noFill/>
          <a:ln/>
        </p:spPr>
        <p:txBody>
          <a:bodyPr wrap="square" lIns="0" tIns="0" rIns="0" bIns="0" rtlCol="0" anchor="ctr"/>
          <a:lstStyle/>
          <a:p>
            <a:pPr indent="0" marL="0">
              <a:lnSpc>
                <a:spcPct val="115000"/>
              </a:lnSpc>
              <a:buNone/>
            </a:pPr>
            <a:r>
              <a:rPr lang="en-US" sz="950" dirty="0">
                <a:solidFill>
                  <a:srgbClr val="A8B5BD"/>
                </a:solidFill>
                <a:latin typeface="Arial" pitchFamily="34" charset="0"/>
                <a:ea typeface="Arial" pitchFamily="34" charset="-122"/>
                <a:cs typeface="Arial" pitchFamily="34" charset="-120"/>
              </a:rPr>
              <a:t>ImageNet-1k pretrained. Pre-logits CLS token after patch self-attention.</a:t>
            </a:r>
            <a:endParaRPr lang="en-US" sz="950" dirty="0"/>
          </a:p>
        </p:txBody>
      </p:sp>
      <p:sp>
        <p:nvSpPr>
          <p:cNvPr id="34" name="Shape 32"/>
          <p:cNvSpPr/>
          <p:nvPr/>
        </p:nvSpPr>
        <p:spPr>
          <a:xfrm>
            <a:off x="6272784" y="2825496"/>
            <a:ext cx="694944" cy="329184"/>
          </a:xfrm>
          <a:prstGeom prst="roundRect">
            <a:avLst>
              <a:gd name="adj" fmla="val 16667"/>
            </a:avLst>
          </a:prstGeom>
          <a:solidFill>
            <a:srgbClr val="0D2A28"/>
          </a:solidFill>
          <a:ln/>
        </p:spPr>
      </p:sp>
      <p:sp>
        <p:nvSpPr>
          <p:cNvPr id="35" name="Text 33"/>
          <p:cNvSpPr/>
          <p:nvPr/>
        </p:nvSpPr>
        <p:spPr>
          <a:xfrm>
            <a:off x="6272784"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768d</a:t>
            </a:r>
            <a:endParaRPr lang="en-US" sz="900" dirty="0"/>
          </a:p>
        </p:txBody>
      </p:sp>
      <p:sp>
        <p:nvSpPr>
          <p:cNvPr id="36" name="Shape 34"/>
          <p:cNvSpPr/>
          <p:nvPr/>
        </p:nvSpPr>
        <p:spPr>
          <a:xfrm>
            <a:off x="7040880" y="2825496"/>
            <a:ext cx="694944" cy="329184"/>
          </a:xfrm>
          <a:prstGeom prst="roundRect">
            <a:avLst>
              <a:gd name="adj" fmla="val 16667"/>
            </a:avLst>
          </a:prstGeom>
          <a:solidFill>
            <a:srgbClr val="0D2A28"/>
          </a:solidFill>
          <a:ln/>
        </p:spPr>
      </p:sp>
      <p:sp>
        <p:nvSpPr>
          <p:cNvPr id="37" name="Text 35"/>
          <p:cNvSpPr/>
          <p:nvPr/>
        </p:nvSpPr>
        <p:spPr>
          <a:xfrm>
            <a:off x="7040880"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SVM .535</a:t>
            </a:r>
            <a:endParaRPr lang="en-US" sz="900" dirty="0"/>
          </a:p>
        </p:txBody>
      </p:sp>
      <p:sp>
        <p:nvSpPr>
          <p:cNvPr id="38" name="Shape 36"/>
          <p:cNvSpPr/>
          <p:nvPr/>
        </p:nvSpPr>
        <p:spPr>
          <a:xfrm>
            <a:off x="7808976" y="2825496"/>
            <a:ext cx="694944" cy="329184"/>
          </a:xfrm>
          <a:prstGeom prst="roundRect">
            <a:avLst>
              <a:gd name="adj" fmla="val 16667"/>
            </a:avLst>
          </a:prstGeom>
          <a:solidFill>
            <a:srgbClr val="0D2A28"/>
          </a:solidFill>
          <a:ln/>
        </p:spPr>
      </p:sp>
      <p:sp>
        <p:nvSpPr>
          <p:cNvPr id="39" name="Text 37"/>
          <p:cNvSpPr/>
          <p:nvPr/>
        </p:nvSpPr>
        <p:spPr>
          <a:xfrm>
            <a:off x="7808976" y="2825496"/>
            <a:ext cx="694944" cy="329184"/>
          </a:xfrm>
          <a:prstGeom prst="rect">
            <a:avLst/>
          </a:prstGeom>
          <a:noFill/>
          <a:ln/>
        </p:spPr>
        <p:txBody>
          <a:bodyPr wrap="square" lIns="0" tIns="0" rIns="0" bIns="0" rtlCol="0" anchor="ctr"/>
          <a:lstStyle/>
          <a:p>
            <a:pPr algn="ctr" indent="0" marL="0">
              <a:buNone/>
            </a:pPr>
            <a:r>
              <a:rPr lang="en-US" sz="900" b="1" dirty="0">
                <a:solidFill>
                  <a:srgbClr val="00C4B4"/>
                </a:solidFill>
                <a:latin typeface="Arial" pitchFamily="34" charset="0"/>
                <a:ea typeface="Arial" pitchFamily="34" charset="-122"/>
                <a:cs typeface="Arial" pitchFamily="34" charset="-120"/>
              </a:rPr>
              <a:t>RF .559</a:t>
            </a:r>
            <a:endParaRPr lang="en-US" sz="900" dirty="0"/>
          </a:p>
        </p:txBody>
      </p:sp>
      <p:sp>
        <p:nvSpPr>
          <p:cNvPr id="40" name="Shape 38"/>
          <p:cNvSpPr/>
          <p:nvPr/>
        </p:nvSpPr>
        <p:spPr>
          <a:xfrm>
            <a:off x="457200" y="3474720"/>
            <a:ext cx="2572512" cy="1394460"/>
          </a:xfrm>
          <a:prstGeom prst="roundRect">
            <a:avLst>
              <a:gd name="adj" fmla="val 5246"/>
            </a:avLst>
          </a:prstGeom>
          <a:solidFill>
            <a:srgbClr val="162030"/>
          </a:solidFill>
          <a:ln/>
        </p:spPr>
      </p:sp>
      <p:sp>
        <p:nvSpPr>
          <p:cNvPr id="41" name="Shape 39"/>
          <p:cNvSpPr/>
          <p:nvPr/>
        </p:nvSpPr>
        <p:spPr>
          <a:xfrm>
            <a:off x="621792" y="3602736"/>
            <a:ext cx="1417320" cy="274320"/>
          </a:xfrm>
          <a:prstGeom prst="roundRect">
            <a:avLst>
              <a:gd name="adj" fmla="val 50000"/>
            </a:avLst>
          </a:prstGeom>
          <a:solidFill>
            <a:srgbClr val="107470"/>
          </a:solidFill>
          <a:ln/>
        </p:spPr>
      </p:sp>
      <p:sp>
        <p:nvSpPr>
          <p:cNvPr id="42" name="Text 40"/>
          <p:cNvSpPr/>
          <p:nvPr/>
        </p:nvSpPr>
        <p:spPr>
          <a:xfrm>
            <a:off x="621792" y="3602736"/>
            <a:ext cx="1417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Best individually</a:t>
            </a:r>
            <a:endParaRPr lang="en-US" sz="1000" dirty="0"/>
          </a:p>
        </p:txBody>
      </p:sp>
      <p:sp>
        <p:nvSpPr>
          <p:cNvPr id="43" name="Text 41"/>
          <p:cNvSpPr/>
          <p:nvPr/>
        </p:nvSpPr>
        <p:spPr>
          <a:xfrm>
            <a:off x="621792" y="3931920"/>
            <a:ext cx="2243328"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MobileNetV2 (0.597 RF)</a:t>
            </a:r>
            <a:endParaRPr lang="en-US" sz="1300" dirty="0"/>
          </a:p>
        </p:txBody>
      </p:sp>
      <p:sp>
        <p:nvSpPr>
          <p:cNvPr id="44" name="Text 42"/>
          <p:cNvSpPr/>
          <p:nvPr/>
        </p:nvSpPr>
        <p:spPr>
          <a:xfrm>
            <a:off x="621792" y="4261104"/>
            <a:ext cx="2243328" cy="498348"/>
          </a:xfrm>
          <a:prstGeom prst="rect">
            <a:avLst/>
          </a:prstGeom>
          <a:noFill/>
          <a:ln/>
        </p:spPr>
        <p:txBody>
          <a:bodyPr wrap="square" lIns="0" tIns="0" rIns="0" bIns="0" rtlCol="0" anchor="t"/>
          <a:lstStyle/>
          <a:p>
            <a:pPr indent="0" marL="0">
              <a:lnSpc>
                <a:spcPct val="115000"/>
              </a:lnSpc>
              <a:buNone/>
            </a:pPr>
            <a:r>
              <a:rPr lang="en-US" sz="1000" dirty="0">
                <a:solidFill>
                  <a:srgbClr val="A8B5BD"/>
                </a:solidFill>
                <a:latin typeface="Arial" pitchFamily="34" charset="0"/>
                <a:ea typeface="Arial" pitchFamily="34" charset="-122"/>
                <a:cs typeface="Arial" pitchFamily="34" charset="-120"/>
              </a:rPr>
              <a:t>Edges out the YOLOv8s backbone (0.565 RF) and ViT (0.559 RF) — a classification objective may transfer slightly better here.</a:t>
            </a:r>
            <a:endParaRPr lang="en-US" sz="1000" dirty="0"/>
          </a:p>
        </p:txBody>
      </p:sp>
      <p:sp>
        <p:nvSpPr>
          <p:cNvPr id="45" name="Shape 43"/>
          <p:cNvSpPr/>
          <p:nvPr/>
        </p:nvSpPr>
        <p:spPr>
          <a:xfrm>
            <a:off x="3285744" y="3474720"/>
            <a:ext cx="2572512" cy="1394460"/>
          </a:xfrm>
          <a:prstGeom prst="roundRect">
            <a:avLst>
              <a:gd name="adj" fmla="val 5246"/>
            </a:avLst>
          </a:prstGeom>
          <a:solidFill>
            <a:srgbClr val="162030"/>
          </a:solidFill>
          <a:ln/>
        </p:spPr>
      </p:sp>
      <p:sp>
        <p:nvSpPr>
          <p:cNvPr id="46" name="Shape 44"/>
          <p:cNvSpPr/>
          <p:nvPr/>
        </p:nvSpPr>
        <p:spPr>
          <a:xfrm>
            <a:off x="3450336" y="3602736"/>
            <a:ext cx="1417320" cy="274320"/>
          </a:xfrm>
          <a:prstGeom prst="roundRect">
            <a:avLst>
              <a:gd name="adj" fmla="val 50000"/>
            </a:avLst>
          </a:prstGeom>
          <a:solidFill>
            <a:srgbClr val="107470"/>
          </a:solidFill>
          <a:ln/>
        </p:spPr>
      </p:sp>
      <p:sp>
        <p:nvSpPr>
          <p:cNvPr id="47" name="Text 45"/>
          <p:cNvSpPr/>
          <p:nvPr/>
        </p:nvSpPr>
        <p:spPr>
          <a:xfrm>
            <a:off x="3450336" y="3602736"/>
            <a:ext cx="1417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No new structure</a:t>
            </a:r>
            <a:endParaRPr lang="en-US" sz="1000" dirty="0"/>
          </a:p>
        </p:txBody>
      </p:sp>
      <p:sp>
        <p:nvSpPr>
          <p:cNvPr id="48" name="Text 46"/>
          <p:cNvSpPr/>
          <p:nvPr/>
        </p:nvSpPr>
        <p:spPr>
          <a:xfrm>
            <a:off x="3450336" y="3931920"/>
            <a:ext cx="2243328"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Same non-class UMAP split</a:t>
            </a:r>
            <a:endParaRPr lang="en-US" sz="1300" dirty="0"/>
          </a:p>
        </p:txBody>
      </p:sp>
      <p:sp>
        <p:nvSpPr>
          <p:cNvPr id="49" name="Text 47"/>
          <p:cNvSpPr/>
          <p:nvPr/>
        </p:nvSpPr>
        <p:spPr>
          <a:xfrm>
            <a:off x="3450336" y="4261104"/>
            <a:ext cx="2243328" cy="498348"/>
          </a:xfrm>
          <a:prstGeom prst="rect">
            <a:avLst/>
          </a:prstGeom>
          <a:noFill/>
          <a:ln/>
        </p:spPr>
        <p:txBody>
          <a:bodyPr wrap="square" lIns="0" tIns="0" rIns="0" bIns="0" rtlCol="0" anchor="t"/>
          <a:lstStyle/>
          <a:p>
            <a:pPr indent="0" marL="0">
              <a:lnSpc>
                <a:spcPct val="115000"/>
              </a:lnSpc>
              <a:buNone/>
            </a:pPr>
            <a:r>
              <a:rPr lang="en-US" sz="1000" dirty="0">
                <a:solidFill>
                  <a:srgbClr val="A8B5BD"/>
                </a:solidFill>
                <a:latin typeface="Arial" pitchFamily="34" charset="0"/>
                <a:ea typeface="Arial" pitchFamily="34" charset="-122"/>
                <a:cs typeface="Arial" pitchFamily="34" charset="-120"/>
              </a:rPr>
              <a:t>All three embeddings show the same bimodal split, uncorrelated with maneuver class — likely lighting, not decision-relevant.</a:t>
            </a:r>
            <a:endParaRPr lang="en-US" sz="1000" dirty="0"/>
          </a:p>
        </p:txBody>
      </p:sp>
      <p:sp>
        <p:nvSpPr>
          <p:cNvPr id="50" name="Shape 48"/>
          <p:cNvSpPr/>
          <p:nvPr/>
        </p:nvSpPr>
        <p:spPr>
          <a:xfrm>
            <a:off x="6114288" y="3474720"/>
            <a:ext cx="2572512" cy="1394460"/>
          </a:xfrm>
          <a:prstGeom prst="roundRect">
            <a:avLst>
              <a:gd name="adj" fmla="val 5246"/>
            </a:avLst>
          </a:prstGeom>
          <a:solidFill>
            <a:srgbClr val="162030"/>
          </a:solidFill>
          <a:ln/>
        </p:spPr>
      </p:sp>
      <p:sp>
        <p:nvSpPr>
          <p:cNvPr id="51" name="Shape 49"/>
          <p:cNvSpPr/>
          <p:nvPr/>
        </p:nvSpPr>
        <p:spPr>
          <a:xfrm>
            <a:off x="6278880" y="3602736"/>
            <a:ext cx="1417320" cy="274320"/>
          </a:xfrm>
          <a:prstGeom prst="roundRect">
            <a:avLst>
              <a:gd name="adj" fmla="val 50000"/>
            </a:avLst>
          </a:prstGeom>
          <a:solidFill>
            <a:srgbClr val="5D2E32"/>
          </a:solidFill>
          <a:ln/>
        </p:spPr>
      </p:sp>
      <p:sp>
        <p:nvSpPr>
          <p:cNvPr id="52" name="Text 50"/>
          <p:cNvSpPr/>
          <p:nvPr/>
        </p:nvSpPr>
        <p:spPr>
          <a:xfrm>
            <a:off x="6278880" y="3602736"/>
            <a:ext cx="1417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Ceiling holds</a:t>
            </a:r>
            <a:endParaRPr lang="en-US" sz="1000" dirty="0"/>
          </a:p>
        </p:txBody>
      </p:sp>
      <p:sp>
        <p:nvSpPr>
          <p:cNvPr id="53" name="Text 51"/>
          <p:cNvSpPr/>
          <p:nvPr/>
        </p:nvSpPr>
        <p:spPr>
          <a:xfrm>
            <a:off x="6278880" y="3931920"/>
            <a:ext cx="2243328" cy="292608"/>
          </a:xfrm>
          <a:prstGeom prst="rect">
            <a:avLst/>
          </a:prstGeom>
          <a:noFill/>
          <a:ln/>
        </p:spPr>
        <p:txBody>
          <a:bodyPr wrap="square" lIns="0" tIns="0" rIns="0" bIns="0" rtlCol="0" anchor="ctr"/>
          <a:lstStyle/>
          <a:p>
            <a:pPr indent="0" marL="0">
              <a:buNone/>
            </a:pPr>
            <a:r>
              <a:rPr lang="en-US" sz="1300" b="1" dirty="0">
                <a:solidFill>
                  <a:srgbClr val="FFFFFF"/>
                </a:solidFill>
                <a:latin typeface="Arial" pitchFamily="34" charset="0"/>
                <a:ea typeface="Arial" pitchFamily="34" charset="-122"/>
                <a:cs typeface="Arial" pitchFamily="34" charset="-120"/>
              </a:rPr>
              <a:t>0.657 SVM — unchanged</a:t>
            </a:r>
            <a:endParaRPr lang="en-US" sz="1300" dirty="0"/>
          </a:p>
        </p:txBody>
      </p:sp>
      <p:sp>
        <p:nvSpPr>
          <p:cNvPr id="54" name="Text 52"/>
          <p:cNvSpPr/>
          <p:nvPr/>
        </p:nvSpPr>
        <p:spPr>
          <a:xfrm>
            <a:off x="6278880" y="4261104"/>
            <a:ext cx="2243328" cy="498348"/>
          </a:xfrm>
          <a:prstGeom prst="rect">
            <a:avLst/>
          </a:prstGeom>
          <a:noFill/>
          <a:ln/>
        </p:spPr>
        <p:txBody>
          <a:bodyPr wrap="square" lIns="0" tIns="0" rIns="0" bIns="0" rtlCol="0" anchor="t"/>
          <a:lstStyle/>
          <a:p>
            <a:pPr indent="0" marL="0">
              <a:lnSpc>
                <a:spcPct val="115000"/>
              </a:lnSpc>
              <a:buNone/>
            </a:pPr>
            <a:r>
              <a:rPr lang="en-US" sz="1000" dirty="0">
                <a:solidFill>
                  <a:srgbClr val="A8B5BD"/>
                </a:solidFill>
                <a:latin typeface="Arial" pitchFamily="34" charset="0"/>
                <a:ea typeface="Arial" pitchFamily="34" charset="-122"/>
                <a:cs typeface="Arial" pitchFamily="34" charset="-120"/>
              </a:rPr>
              <a:t>All three stacked together still cap at 0.657 SVM, same as YOLO alone. Architecture choice isn’t the bottleneck.</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Where the Model Is Failing</a:t>
            </a:r>
            <a:endParaRPr lang="en-US" sz="34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500" dirty="0">
                <a:solidFill>
                  <a:srgbClr val="00C4B4"/>
                </a:solidFill>
                <a:latin typeface="Arial" pitchFamily="34" charset="0"/>
                <a:ea typeface="Arial" pitchFamily="34" charset="-122"/>
                <a:cs typeface="Arial" pitchFamily="34" charset="-120"/>
              </a:rPr>
              <a:t>Confusion matrix — best model so far (All_CNN / SVM, acc=0.657)</a:t>
            </a:r>
            <a:endParaRPr lang="en-US" sz="1500" dirty="0"/>
          </a:p>
        </p:txBody>
      </p:sp>
      <p:pic>
        <p:nvPicPr>
          <p:cNvPr id="4" name="Image 0" descr="confusion_matrix_best.png">    </p:cNvPr>
          <p:cNvPicPr>
            <a:picLocks noChangeAspect="1"/>
          </p:cNvPicPr>
          <p:nvPr/>
        </p:nvPicPr>
        <p:blipFill>
          <a:blip r:embed="rId1"/>
          <a:stretch>
            <a:fillRect/>
          </a:stretch>
        </p:blipFill>
        <p:spPr>
          <a:xfrm>
            <a:off x="457200" y="1298448"/>
            <a:ext cx="3079865" cy="2606040"/>
          </a:xfrm>
          <a:prstGeom prst="rect">
            <a:avLst/>
          </a:prstGeom>
        </p:spPr>
      </p:pic>
      <p:sp>
        <p:nvSpPr>
          <p:cNvPr id="5" name="Shape 2"/>
          <p:cNvSpPr/>
          <p:nvPr/>
        </p:nvSpPr>
        <p:spPr>
          <a:xfrm>
            <a:off x="3811385" y="1298448"/>
            <a:ext cx="4875415" cy="795528"/>
          </a:xfrm>
          <a:prstGeom prst="roundRect">
            <a:avLst>
              <a:gd name="adj" fmla="val 8046"/>
            </a:avLst>
          </a:prstGeom>
          <a:solidFill>
            <a:srgbClr val="162030"/>
          </a:solidFill>
          <a:ln/>
        </p:spPr>
      </p:sp>
      <p:sp>
        <p:nvSpPr>
          <p:cNvPr id="6" name="Shape 3"/>
          <p:cNvSpPr/>
          <p:nvPr/>
        </p:nvSpPr>
        <p:spPr>
          <a:xfrm>
            <a:off x="3957689" y="1389888"/>
            <a:ext cx="1143000" cy="237744"/>
          </a:xfrm>
          <a:prstGeom prst="roundRect">
            <a:avLst>
              <a:gd name="adj" fmla="val 50000"/>
            </a:avLst>
          </a:prstGeom>
          <a:solidFill>
            <a:srgbClr val="107470"/>
          </a:solidFill>
          <a:ln/>
        </p:spPr>
      </p:sp>
      <p:sp>
        <p:nvSpPr>
          <p:cNvPr id="7" name="Text 4"/>
          <p:cNvSpPr/>
          <p:nvPr/>
        </p:nvSpPr>
        <p:spPr>
          <a:xfrm>
            <a:off x="3957689" y="1389888"/>
            <a:ext cx="11430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Learned well</a:t>
            </a:r>
            <a:endParaRPr lang="en-US" sz="950" dirty="0"/>
          </a:p>
        </p:txBody>
      </p:sp>
      <p:sp>
        <p:nvSpPr>
          <p:cNvPr id="8" name="Text 5"/>
          <p:cNvSpPr/>
          <p:nvPr/>
        </p:nvSpPr>
        <p:spPr>
          <a:xfrm>
            <a:off x="3957689" y="1664208"/>
            <a:ext cx="4582807" cy="23774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Straight &amp; right-turn</a:t>
            </a:r>
            <a:endParaRPr lang="en-US" sz="1250" dirty="0"/>
          </a:p>
        </p:txBody>
      </p:sp>
      <p:sp>
        <p:nvSpPr>
          <p:cNvPr id="9" name="Text 6"/>
          <p:cNvSpPr/>
          <p:nvPr/>
        </p:nvSpPr>
        <p:spPr>
          <a:xfrm>
            <a:off x="3957689" y="1901952"/>
            <a:ext cx="4582807" cy="137160"/>
          </a:xfrm>
          <a:prstGeom prst="rect">
            <a:avLst/>
          </a:prstGeom>
          <a:noFill/>
          <a:ln/>
        </p:spPr>
        <p:txBody>
          <a:bodyPr wrap="square" lIns="0" tIns="0" rIns="0" bIns="0" rtlCol="0" anchor="t"/>
          <a:lstStyle/>
          <a:p>
            <a:pPr indent="0" marL="0">
              <a:lnSpc>
                <a:spcPct val="110000"/>
              </a:lnSpc>
              <a:buNone/>
            </a:pPr>
            <a:r>
              <a:rPr lang="en-US" sz="950" dirty="0">
                <a:solidFill>
                  <a:srgbClr val="A8B5BD"/>
                </a:solidFill>
                <a:latin typeface="Arial" pitchFamily="34" charset="0"/>
                <a:ea typeface="Arial" pitchFamily="34" charset="-122"/>
                <a:cs typeface="Arial" pitchFamily="34" charset="-120"/>
              </a:rPr>
              <a:t>Recall 0.84 / 0.69 — the majority classes dominate correctly.</a:t>
            </a:r>
            <a:endParaRPr lang="en-US" sz="950" dirty="0"/>
          </a:p>
        </p:txBody>
      </p:sp>
      <p:sp>
        <p:nvSpPr>
          <p:cNvPr id="10" name="Shape 7"/>
          <p:cNvSpPr/>
          <p:nvPr/>
        </p:nvSpPr>
        <p:spPr>
          <a:xfrm>
            <a:off x="3811385" y="2203704"/>
            <a:ext cx="4875415" cy="795528"/>
          </a:xfrm>
          <a:prstGeom prst="roundRect">
            <a:avLst>
              <a:gd name="adj" fmla="val 8046"/>
            </a:avLst>
          </a:prstGeom>
          <a:solidFill>
            <a:srgbClr val="162030"/>
          </a:solidFill>
          <a:ln/>
        </p:spPr>
      </p:sp>
      <p:sp>
        <p:nvSpPr>
          <p:cNvPr id="11" name="Shape 8"/>
          <p:cNvSpPr/>
          <p:nvPr/>
        </p:nvSpPr>
        <p:spPr>
          <a:xfrm>
            <a:off x="3957689" y="2295144"/>
            <a:ext cx="1143000" cy="237744"/>
          </a:xfrm>
          <a:prstGeom prst="roundRect">
            <a:avLst>
              <a:gd name="adj" fmla="val 50000"/>
            </a:avLst>
          </a:prstGeom>
          <a:solidFill>
            <a:srgbClr val="5D2E32"/>
          </a:solidFill>
          <a:ln/>
        </p:spPr>
      </p:sp>
      <p:sp>
        <p:nvSpPr>
          <p:cNvPr id="12" name="Text 9"/>
          <p:cNvSpPr/>
          <p:nvPr/>
        </p:nvSpPr>
        <p:spPr>
          <a:xfrm>
            <a:off x="3957689" y="2295144"/>
            <a:ext cx="11430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Confused</a:t>
            </a:r>
            <a:endParaRPr lang="en-US" sz="950" dirty="0"/>
          </a:p>
        </p:txBody>
      </p:sp>
      <p:sp>
        <p:nvSpPr>
          <p:cNvPr id="13" name="Text 10"/>
          <p:cNvSpPr/>
          <p:nvPr/>
        </p:nvSpPr>
        <p:spPr>
          <a:xfrm>
            <a:off x="3957689" y="2569464"/>
            <a:ext cx="4582807" cy="23774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Left-turn ↔ other classes</a:t>
            </a:r>
            <a:endParaRPr lang="en-US" sz="1250" dirty="0"/>
          </a:p>
        </p:txBody>
      </p:sp>
      <p:sp>
        <p:nvSpPr>
          <p:cNvPr id="14" name="Text 11"/>
          <p:cNvSpPr/>
          <p:nvPr/>
        </p:nvSpPr>
        <p:spPr>
          <a:xfrm>
            <a:off x="3957689" y="2807208"/>
            <a:ext cx="4582807" cy="137160"/>
          </a:xfrm>
          <a:prstGeom prst="rect">
            <a:avLst/>
          </a:prstGeom>
          <a:noFill/>
          <a:ln/>
        </p:spPr>
        <p:txBody>
          <a:bodyPr wrap="square" lIns="0" tIns="0" rIns="0" bIns="0" rtlCol="0" anchor="t"/>
          <a:lstStyle/>
          <a:p>
            <a:pPr indent="0" marL="0">
              <a:lnSpc>
                <a:spcPct val="110000"/>
              </a:lnSpc>
              <a:buNone/>
            </a:pPr>
            <a:r>
              <a:rPr lang="en-US" sz="950" dirty="0">
                <a:solidFill>
                  <a:srgbClr val="A8B5BD"/>
                </a:solidFill>
                <a:latin typeface="Arial" pitchFamily="34" charset="0"/>
                <a:ea typeface="Arial" pitchFamily="34" charset="-122"/>
                <a:cs typeface="Arial" pitchFamily="34" charset="-120"/>
              </a:rPr>
              <a:t>Recall only 0.33; splits almost evenly across straight and right-turn.</a:t>
            </a:r>
            <a:endParaRPr lang="en-US" sz="950" dirty="0"/>
          </a:p>
        </p:txBody>
      </p:sp>
      <p:sp>
        <p:nvSpPr>
          <p:cNvPr id="15" name="Shape 12"/>
          <p:cNvSpPr/>
          <p:nvPr/>
        </p:nvSpPr>
        <p:spPr>
          <a:xfrm>
            <a:off x="3811385" y="3108960"/>
            <a:ext cx="4875415" cy="795528"/>
          </a:xfrm>
          <a:prstGeom prst="roundRect">
            <a:avLst>
              <a:gd name="adj" fmla="val 8046"/>
            </a:avLst>
          </a:prstGeom>
          <a:solidFill>
            <a:srgbClr val="162030"/>
          </a:solidFill>
          <a:ln/>
        </p:spPr>
      </p:sp>
      <p:sp>
        <p:nvSpPr>
          <p:cNvPr id="16" name="Shape 13"/>
          <p:cNvSpPr/>
          <p:nvPr/>
        </p:nvSpPr>
        <p:spPr>
          <a:xfrm>
            <a:off x="3957689" y="3200400"/>
            <a:ext cx="1143000" cy="237744"/>
          </a:xfrm>
          <a:prstGeom prst="roundRect">
            <a:avLst>
              <a:gd name="adj" fmla="val 50000"/>
            </a:avLst>
          </a:prstGeom>
          <a:solidFill>
            <a:srgbClr val="5D2E32"/>
          </a:solidFill>
          <a:ln/>
        </p:spPr>
      </p:sp>
      <p:sp>
        <p:nvSpPr>
          <p:cNvPr id="17" name="Text 14"/>
          <p:cNvSpPr/>
          <p:nvPr/>
        </p:nvSpPr>
        <p:spPr>
          <a:xfrm>
            <a:off x="3957689" y="3200400"/>
            <a:ext cx="1143000" cy="237744"/>
          </a:xfrm>
          <a:prstGeom prst="rect">
            <a:avLst/>
          </a:prstGeom>
          <a:noFill/>
          <a:ln/>
        </p:spPr>
        <p:txBody>
          <a:bodyPr wrap="square" lIns="0" tIns="0" rIns="0" bIns="0" rtlCol="0" anchor="ctr"/>
          <a:lstStyle/>
          <a:p>
            <a:pPr algn="ctr" indent="0" marL="0">
              <a:buNone/>
            </a:pPr>
            <a:r>
              <a:rPr lang="en-US" sz="950" b="1" dirty="0">
                <a:solidFill>
                  <a:srgbClr val="FFFFFF"/>
                </a:solidFill>
                <a:latin typeface="Arial" pitchFamily="34" charset="0"/>
                <a:ea typeface="Arial" pitchFamily="34" charset="-122"/>
                <a:cs typeface="Arial" pitchFamily="34" charset="-120"/>
              </a:rPr>
              <a:t>Barely learned</a:t>
            </a:r>
            <a:endParaRPr lang="en-US" sz="950" dirty="0"/>
          </a:p>
        </p:txBody>
      </p:sp>
      <p:sp>
        <p:nvSpPr>
          <p:cNvPr id="18" name="Text 15"/>
          <p:cNvSpPr/>
          <p:nvPr/>
        </p:nvSpPr>
        <p:spPr>
          <a:xfrm>
            <a:off x="3957689" y="3474720"/>
            <a:ext cx="4582807" cy="237744"/>
          </a:xfrm>
          <a:prstGeom prst="rect">
            <a:avLst/>
          </a:prstGeom>
          <a:noFill/>
          <a:ln/>
        </p:spPr>
        <p:txBody>
          <a:bodyPr wrap="square" lIns="0" tIns="0" rIns="0" bIns="0" rtlCol="0" anchor="ctr"/>
          <a:lstStyle/>
          <a:p>
            <a:pPr indent="0" marL="0">
              <a:buNone/>
            </a:pPr>
            <a:r>
              <a:rPr lang="en-US" sz="1250" b="1" dirty="0">
                <a:solidFill>
                  <a:srgbClr val="FFFFFF"/>
                </a:solidFill>
                <a:latin typeface="Arial" pitchFamily="34" charset="0"/>
                <a:ea typeface="Arial" pitchFamily="34" charset="-122"/>
                <a:cs typeface="Arial" pitchFamily="34" charset="-120"/>
              </a:rPr>
              <a:t>Lane-changes predicted as straight</a:t>
            </a:r>
            <a:endParaRPr lang="en-US" sz="1250" dirty="0"/>
          </a:p>
        </p:txBody>
      </p:sp>
      <p:sp>
        <p:nvSpPr>
          <p:cNvPr id="19" name="Text 16"/>
          <p:cNvSpPr/>
          <p:nvPr/>
        </p:nvSpPr>
        <p:spPr>
          <a:xfrm>
            <a:off x="3957689" y="3712464"/>
            <a:ext cx="4582807" cy="137160"/>
          </a:xfrm>
          <a:prstGeom prst="rect">
            <a:avLst/>
          </a:prstGeom>
          <a:noFill/>
          <a:ln/>
        </p:spPr>
        <p:txBody>
          <a:bodyPr wrap="square" lIns="0" tIns="0" rIns="0" bIns="0" rtlCol="0" anchor="t"/>
          <a:lstStyle/>
          <a:p>
            <a:pPr indent="0" marL="0">
              <a:lnSpc>
                <a:spcPct val="110000"/>
              </a:lnSpc>
              <a:buNone/>
            </a:pPr>
            <a:r>
              <a:rPr lang="en-US" sz="950" dirty="0">
                <a:solidFill>
                  <a:srgbClr val="A8B5BD"/>
                </a:solidFill>
                <a:latin typeface="Arial" pitchFamily="34" charset="0"/>
                <a:ea typeface="Arial" pitchFamily="34" charset="-122"/>
                <a:cs typeface="Arial" pitchFamily="34" charset="-120"/>
              </a:rPr>
              <a:t>Recall 0.06 / 0.09; precision 1.00 on the rare hits — not confused, just never confident enough to predict.</a:t>
            </a:r>
            <a:endParaRPr lang="en-US" sz="950" dirty="0"/>
          </a:p>
        </p:txBody>
      </p:sp>
      <p:sp>
        <p:nvSpPr>
          <p:cNvPr id="20" name="Shape 17"/>
          <p:cNvSpPr/>
          <p:nvPr/>
        </p:nvSpPr>
        <p:spPr>
          <a:xfrm>
            <a:off x="457200" y="4105656"/>
            <a:ext cx="8229600" cy="763524"/>
          </a:xfrm>
          <a:prstGeom prst="roundRect">
            <a:avLst>
              <a:gd name="adj" fmla="val 8383"/>
            </a:avLst>
          </a:prstGeom>
          <a:solidFill>
            <a:srgbClr val="162030"/>
          </a:solidFill>
          <a:ln/>
        </p:spPr>
      </p:sp>
      <p:sp>
        <p:nvSpPr>
          <p:cNvPr id="21" name="Shape 18"/>
          <p:cNvSpPr/>
          <p:nvPr/>
        </p:nvSpPr>
        <p:spPr>
          <a:xfrm>
            <a:off x="640080" y="4359402"/>
            <a:ext cx="1234440" cy="256032"/>
          </a:xfrm>
          <a:prstGeom prst="roundRect">
            <a:avLst>
              <a:gd name="adj" fmla="val 50000"/>
            </a:avLst>
          </a:prstGeom>
          <a:solidFill>
            <a:srgbClr val="107470"/>
          </a:solidFill>
          <a:ln/>
        </p:spPr>
      </p:sp>
      <p:sp>
        <p:nvSpPr>
          <p:cNvPr id="22" name="Text 19"/>
          <p:cNvSpPr/>
          <p:nvPr/>
        </p:nvSpPr>
        <p:spPr>
          <a:xfrm>
            <a:off x="640080" y="4359402"/>
            <a:ext cx="1234440" cy="256032"/>
          </a:xfrm>
          <a:prstGeom prst="rect">
            <a:avLst/>
          </a:prstGeom>
          <a:noFill/>
          <a:ln/>
        </p:spPr>
        <p:txBody>
          <a:bodyPr wrap="square" lIns="0" tIns="0" rIns="0" bIns="0" rtlCol="0" anchor="ctr"/>
          <a:lstStyle/>
          <a:p>
            <a:pPr algn="ctr" indent="0" marL="0">
              <a:buNone/>
            </a:pPr>
            <a:r>
              <a:rPr lang="en-US" sz="1050" b="1" dirty="0">
                <a:solidFill>
                  <a:srgbClr val="FFFFFF"/>
                </a:solidFill>
                <a:latin typeface="Arial" pitchFamily="34" charset="0"/>
                <a:ea typeface="Arial" pitchFamily="34" charset="-122"/>
                <a:cs typeface="Arial" pitchFamily="34" charset="-120"/>
              </a:rPr>
              <a:t>Next steps</a:t>
            </a:r>
            <a:endParaRPr lang="en-US" sz="1050" dirty="0"/>
          </a:p>
        </p:txBody>
      </p:sp>
      <p:sp>
        <p:nvSpPr>
          <p:cNvPr id="23" name="Text 20"/>
          <p:cNvSpPr/>
          <p:nvPr/>
        </p:nvSpPr>
        <p:spPr>
          <a:xfrm>
            <a:off x="2057400" y="4105656"/>
            <a:ext cx="6446520" cy="763524"/>
          </a:xfrm>
          <a:prstGeom prst="rect">
            <a:avLst/>
          </a:prstGeom>
          <a:noFill/>
          <a:ln/>
        </p:spPr>
        <p:txBody>
          <a:bodyPr wrap="square" lIns="0" tIns="0" rIns="0" bIns="0" rtlCol="0" anchor="ctr"/>
          <a:lstStyle/>
          <a:p>
            <a:pPr indent="0" marL="0">
              <a:lnSpc>
                <a:spcPct val="115000"/>
              </a:lnSpc>
              <a:buNone/>
            </a:pPr>
            <a:r>
              <a:rPr lang="en-US" sz="1150" dirty="0">
                <a:solidFill>
                  <a:srgbClr val="A8B5BD"/>
                </a:solidFill>
                <a:latin typeface="Arial" pitchFamily="34" charset="0"/>
                <a:ea typeface="Arial" pitchFamily="34" charset="-122"/>
                <a:cs typeface="Arial" pitchFamily="34" charset="-120"/>
              </a:rPr>
              <a:t>Road v2, vehicle occupancy, and 3 pretrained CNNs all plateau at 0.657 — more single-frame feature engineering isn’t the lever. Focus next: more lane-change training examples, or multi-frame temporal context (v2 / future work).</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D1B2A"/>
        </a:solidFill>
      </p:bgPr>
    </p:bg>
    <p:spTree>
      <p:nvGrpSpPr>
        <p:cNvPr id="1" name=""/>
        <p:cNvGrpSpPr/>
        <p:nvPr/>
      </p:nvGrpSpPr>
      <p:grpSpPr>
        <a:xfrm>
          <a:off x="0" y="0"/>
          <a:ext cx="0" cy="0"/>
          <a:chOff x="0" y="0"/>
          <a:chExt cx="0" cy="0"/>
        </a:xfrm>
      </p:grpSpPr>
      <p:sp>
        <p:nvSpPr>
          <p:cNvPr id="2" name="Text 0"/>
          <p:cNvSpPr/>
          <p:nvPr/>
        </p:nvSpPr>
        <p:spPr>
          <a:xfrm>
            <a:off x="457200" y="320040"/>
            <a:ext cx="8229600" cy="640080"/>
          </a:xfrm>
          <a:prstGeom prst="rect">
            <a:avLst/>
          </a:prstGeom>
          <a:noFill/>
          <a:ln/>
        </p:spPr>
        <p:txBody>
          <a:bodyPr wrap="square" lIns="0" tIns="0" rIns="0" bIns="0" rtlCol="0" anchor="ctr"/>
          <a:lstStyle/>
          <a:p>
            <a:pPr indent="0" marL="0">
              <a:buNone/>
            </a:pPr>
            <a:r>
              <a:rPr lang="en-US" sz="3400" b="1" dirty="0">
                <a:solidFill>
                  <a:srgbClr val="FFFFFF"/>
                </a:solidFill>
                <a:latin typeface="Arial" pitchFamily="34" charset="0"/>
                <a:ea typeface="Arial" pitchFamily="34" charset="-122"/>
                <a:cs typeface="Arial" pitchFamily="34" charset="-120"/>
              </a:rPr>
              <a:t>t-SNE: Feature Separability by Class</a:t>
            </a:r>
            <a:endParaRPr lang="en-US" sz="3400" dirty="0"/>
          </a:p>
        </p:txBody>
      </p:sp>
      <p:sp>
        <p:nvSpPr>
          <p:cNvPr id="3" name="Text 1"/>
          <p:cNvSpPr/>
          <p:nvPr/>
        </p:nvSpPr>
        <p:spPr>
          <a:xfrm>
            <a:off x="457200" y="841248"/>
            <a:ext cx="8229600" cy="365760"/>
          </a:xfrm>
          <a:prstGeom prst="rect">
            <a:avLst/>
          </a:prstGeom>
          <a:noFill/>
          <a:ln/>
        </p:spPr>
        <p:txBody>
          <a:bodyPr wrap="square" lIns="0" tIns="0" rIns="0" bIns="0" rtlCol="0" anchor="ctr"/>
          <a:lstStyle/>
          <a:p>
            <a:pPr indent="0" marL="0">
              <a:buNone/>
            </a:pPr>
            <a:r>
              <a:rPr lang="en-US" sz="1500" dirty="0">
                <a:solidFill>
                  <a:srgbClr val="00C4B4"/>
                </a:solidFill>
                <a:latin typeface="Arial" pitchFamily="34" charset="0"/>
                <a:ea typeface="Arial" pitchFamily="34" charset="-122"/>
                <a:cs typeface="Arial" pitchFamily="34" charset="-120"/>
              </a:rPr>
              <a:t>All 10 feature sets, same 1,875 sequences — perplexity=30</a:t>
            </a:r>
            <a:endParaRPr lang="en-US" sz="1500" dirty="0"/>
          </a:p>
        </p:txBody>
      </p:sp>
      <p:pic>
        <p:nvPicPr>
          <p:cNvPr id="4" name="Image 0" descr="tsne_only.png">    </p:cNvPr>
          <p:cNvPicPr>
            <a:picLocks noChangeAspect="1"/>
          </p:cNvPicPr>
          <p:nvPr/>
        </p:nvPicPr>
        <p:blipFill>
          <a:blip r:embed="rId1"/>
          <a:stretch>
            <a:fillRect/>
          </a:stretch>
        </p:blipFill>
        <p:spPr>
          <a:xfrm>
            <a:off x="457200" y="1298448"/>
            <a:ext cx="8229600" cy="902601"/>
          </a:xfrm>
          <a:prstGeom prst="rect">
            <a:avLst/>
          </a:prstGeom>
        </p:spPr>
      </p:pic>
      <p:sp>
        <p:nvSpPr>
          <p:cNvPr id="5" name="Shape 2"/>
          <p:cNvSpPr/>
          <p:nvPr/>
        </p:nvSpPr>
        <p:spPr>
          <a:xfrm>
            <a:off x="457200" y="2429649"/>
            <a:ext cx="2572512" cy="2439531"/>
          </a:xfrm>
          <a:prstGeom prst="roundRect">
            <a:avLst>
              <a:gd name="adj" fmla="val 2999"/>
            </a:avLst>
          </a:prstGeom>
          <a:solidFill>
            <a:srgbClr val="162030"/>
          </a:solidFill>
          <a:ln/>
        </p:spPr>
      </p:sp>
      <p:sp>
        <p:nvSpPr>
          <p:cNvPr id="6" name="Shape 3"/>
          <p:cNvSpPr/>
          <p:nvPr/>
        </p:nvSpPr>
        <p:spPr>
          <a:xfrm>
            <a:off x="621792" y="2575953"/>
            <a:ext cx="1417320" cy="274320"/>
          </a:xfrm>
          <a:prstGeom prst="roundRect">
            <a:avLst>
              <a:gd name="adj" fmla="val 50000"/>
            </a:avLst>
          </a:prstGeom>
          <a:solidFill>
            <a:srgbClr val="107470"/>
          </a:solidFill>
          <a:ln/>
        </p:spPr>
      </p:sp>
      <p:sp>
        <p:nvSpPr>
          <p:cNvPr id="7" name="Text 4"/>
          <p:cNvSpPr/>
          <p:nvPr/>
        </p:nvSpPr>
        <p:spPr>
          <a:xfrm>
            <a:off x="621792" y="2575953"/>
            <a:ext cx="1417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Consistent finding</a:t>
            </a:r>
            <a:endParaRPr lang="en-US" sz="1000" dirty="0"/>
          </a:p>
        </p:txBody>
      </p:sp>
      <p:sp>
        <p:nvSpPr>
          <p:cNvPr id="8" name="Text 5"/>
          <p:cNvSpPr/>
          <p:nvPr/>
        </p:nvSpPr>
        <p:spPr>
          <a:xfrm>
            <a:off x="621792" y="2923425"/>
            <a:ext cx="2243328"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No feature shows class clusters</a:t>
            </a:r>
            <a:endParaRPr lang="en-US" sz="1350" dirty="0"/>
          </a:p>
        </p:txBody>
      </p:sp>
      <p:sp>
        <p:nvSpPr>
          <p:cNvPr id="9" name="Text 6"/>
          <p:cNvSpPr/>
          <p:nvPr/>
        </p:nvSpPr>
        <p:spPr>
          <a:xfrm>
            <a:off x="621792" y="3398913"/>
            <a:ext cx="2243328" cy="1342251"/>
          </a:xfrm>
          <a:prstGeom prst="rect">
            <a:avLst/>
          </a:prstGeom>
          <a:noFill/>
          <a:ln/>
        </p:spPr>
        <p:txBody>
          <a:bodyPr wrap="square" lIns="0" tIns="0" rIns="0" bIns="0" rtlCol="0" anchor="t"/>
          <a:lstStyle/>
          <a:p>
            <a:pPr indent="0" marL="0">
              <a:lnSpc>
                <a:spcPct val="115000"/>
              </a:lnSpc>
              <a:buNone/>
            </a:pPr>
            <a:r>
              <a:rPr lang="en-US" sz="1050" dirty="0">
                <a:solidFill>
                  <a:srgbClr val="A8B5BD"/>
                </a:solidFill>
                <a:latin typeface="Arial" pitchFamily="34" charset="0"/>
                <a:ea typeface="Arial" pitchFamily="34" charset="-122"/>
                <a:cs typeface="Arial" pitchFamily="34" charset="-120"/>
              </a:rPr>
              <a:t>All 10 feature sets — from raw HOG to CNN embeddings — produce the same overlapping blob across all 5 maneuver classes. No color separation anywhere in the row.</a:t>
            </a:r>
            <a:endParaRPr lang="en-US" sz="1050" dirty="0"/>
          </a:p>
        </p:txBody>
      </p:sp>
      <p:sp>
        <p:nvSpPr>
          <p:cNvPr id="10" name="Shape 7"/>
          <p:cNvSpPr/>
          <p:nvPr/>
        </p:nvSpPr>
        <p:spPr>
          <a:xfrm>
            <a:off x="3285744" y="2429649"/>
            <a:ext cx="2572512" cy="2439531"/>
          </a:xfrm>
          <a:prstGeom prst="roundRect">
            <a:avLst>
              <a:gd name="adj" fmla="val 2999"/>
            </a:avLst>
          </a:prstGeom>
          <a:solidFill>
            <a:srgbClr val="162030"/>
          </a:solidFill>
          <a:ln/>
        </p:spPr>
      </p:sp>
      <p:sp>
        <p:nvSpPr>
          <p:cNvPr id="11" name="Shape 8"/>
          <p:cNvSpPr/>
          <p:nvPr/>
        </p:nvSpPr>
        <p:spPr>
          <a:xfrm>
            <a:off x="3450336" y="2575953"/>
            <a:ext cx="1417320" cy="274320"/>
          </a:xfrm>
          <a:prstGeom prst="roundRect">
            <a:avLst>
              <a:gd name="adj" fmla="val 50000"/>
            </a:avLst>
          </a:prstGeom>
          <a:solidFill>
            <a:srgbClr val="107470"/>
          </a:solidFill>
          <a:ln/>
        </p:spPr>
      </p:sp>
      <p:sp>
        <p:nvSpPr>
          <p:cNvPr id="12" name="Text 9"/>
          <p:cNvSpPr/>
          <p:nvPr/>
        </p:nvSpPr>
        <p:spPr>
          <a:xfrm>
            <a:off x="3450336" y="2575953"/>
            <a:ext cx="1417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Notable exception</a:t>
            </a:r>
            <a:endParaRPr lang="en-US" sz="1000" dirty="0"/>
          </a:p>
        </p:txBody>
      </p:sp>
      <p:sp>
        <p:nvSpPr>
          <p:cNvPr id="13" name="Text 10"/>
          <p:cNvSpPr/>
          <p:nvPr/>
        </p:nvSpPr>
        <p:spPr>
          <a:xfrm>
            <a:off x="3450336" y="2923425"/>
            <a:ext cx="2243328"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YOLO clusters — but not by class</a:t>
            </a:r>
            <a:endParaRPr lang="en-US" sz="1350" dirty="0"/>
          </a:p>
        </p:txBody>
      </p:sp>
      <p:sp>
        <p:nvSpPr>
          <p:cNvPr id="14" name="Text 11"/>
          <p:cNvSpPr/>
          <p:nvPr/>
        </p:nvSpPr>
        <p:spPr>
          <a:xfrm>
            <a:off x="3450336" y="3398913"/>
            <a:ext cx="2243328" cy="1342251"/>
          </a:xfrm>
          <a:prstGeom prst="rect">
            <a:avLst/>
          </a:prstGeom>
          <a:noFill/>
          <a:ln/>
        </p:spPr>
        <p:txBody>
          <a:bodyPr wrap="square" lIns="0" tIns="0" rIns="0" bIns="0" rtlCol="0" anchor="t"/>
          <a:lstStyle/>
          <a:p>
            <a:pPr indent="0" marL="0">
              <a:lnSpc>
                <a:spcPct val="115000"/>
              </a:lnSpc>
              <a:buNone/>
            </a:pPr>
            <a:r>
              <a:rPr lang="en-US" sz="1050" dirty="0">
                <a:solidFill>
                  <a:srgbClr val="A8B5BD"/>
                </a:solidFill>
                <a:latin typeface="Arial" pitchFamily="34" charset="0"/>
                <a:ea typeface="Arial" pitchFamily="34" charset="-122"/>
                <a:cs typeface="Arial" pitchFamily="34" charset="-120"/>
              </a:rPr>
              <a:t>YOLO's sparse 32-dim vector forms tight little clusters from repeated detection patterns, but each cluster mixes all 5 classes — it's grouping by scene content, not maneuver.</a:t>
            </a:r>
            <a:endParaRPr lang="en-US" sz="1050" dirty="0"/>
          </a:p>
        </p:txBody>
      </p:sp>
      <p:sp>
        <p:nvSpPr>
          <p:cNvPr id="15" name="Shape 12"/>
          <p:cNvSpPr/>
          <p:nvPr/>
        </p:nvSpPr>
        <p:spPr>
          <a:xfrm>
            <a:off x="6114288" y="2429649"/>
            <a:ext cx="2572512" cy="2439531"/>
          </a:xfrm>
          <a:prstGeom prst="roundRect">
            <a:avLst>
              <a:gd name="adj" fmla="val 2999"/>
            </a:avLst>
          </a:prstGeom>
          <a:solidFill>
            <a:srgbClr val="162030"/>
          </a:solidFill>
          <a:ln/>
        </p:spPr>
      </p:sp>
      <p:sp>
        <p:nvSpPr>
          <p:cNvPr id="16" name="Shape 13"/>
          <p:cNvSpPr/>
          <p:nvPr/>
        </p:nvSpPr>
        <p:spPr>
          <a:xfrm>
            <a:off x="6278880" y="2575953"/>
            <a:ext cx="1417320" cy="274320"/>
          </a:xfrm>
          <a:prstGeom prst="roundRect">
            <a:avLst>
              <a:gd name="adj" fmla="val 50000"/>
            </a:avLst>
          </a:prstGeom>
          <a:solidFill>
            <a:srgbClr val="5D2E32"/>
          </a:solidFill>
          <a:ln/>
        </p:spPr>
      </p:sp>
      <p:sp>
        <p:nvSpPr>
          <p:cNvPr id="17" name="Text 14"/>
          <p:cNvSpPr/>
          <p:nvPr/>
        </p:nvSpPr>
        <p:spPr>
          <a:xfrm>
            <a:off x="6278880" y="2575953"/>
            <a:ext cx="1417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Arial" pitchFamily="34" charset="0"/>
                <a:ea typeface="Arial" pitchFamily="34" charset="-122"/>
                <a:cs typeface="Arial" pitchFamily="34" charset="-120"/>
              </a:rPr>
              <a:t>Bottom line</a:t>
            </a:r>
            <a:endParaRPr lang="en-US" sz="1000" dirty="0"/>
          </a:p>
        </p:txBody>
      </p:sp>
      <p:sp>
        <p:nvSpPr>
          <p:cNvPr id="18" name="Text 15"/>
          <p:cNvSpPr/>
          <p:nvPr/>
        </p:nvSpPr>
        <p:spPr>
          <a:xfrm>
            <a:off x="6278880" y="2923425"/>
            <a:ext cx="2243328" cy="457200"/>
          </a:xfrm>
          <a:prstGeom prst="rect">
            <a:avLst/>
          </a:prstGeom>
          <a:noFill/>
          <a:ln/>
        </p:spPr>
        <p:txBody>
          <a:bodyPr wrap="square" lIns="0" tIns="0" rIns="0" bIns="0" rtlCol="0" anchor="ctr"/>
          <a:lstStyle/>
          <a:p>
            <a:pPr indent="0" marL="0">
              <a:buNone/>
            </a:pPr>
            <a:r>
              <a:rPr lang="en-US" sz="1350" b="1" dirty="0">
                <a:solidFill>
                  <a:srgbClr val="FFFFFF"/>
                </a:solidFill>
                <a:latin typeface="Arial" pitchFamily="34" charset="0"/>
                <a:ea typeface="Arial" pitchFamily="34" charset="-122"/>
                <a:cs typeface="Arial" pitchFamily="34" charset="-120"/>
              </a:rPr>
              <a:t>t-SNE agrees with the SVM/RF baseline</a:t>
            </a:r>
            <a:endParaRPr lang="en-US" sz="1350" dirty="0"/>
          </a:p>
        </p:txBody>
      </p:sp>
      <p:sp>
        <p:nvSpPr>
          <p:cNvPr id="19" name="Text 16"/>
          <p:cNvSpPr/>
          <p:nvPr/>
        </p:nvSpPr>
        <p:spPr>
          <a:xfrm>
            <a:off x="6278880" y="3398913"/>
            <a:ext cx="2243328" cy="1342251"/>
          </a:xfrm>
          <a:prstGeom prst="rect">
            <a:avLst/>
          </a:prstGeom>
          <a:noFill/>
          <a:ln/>
        </p:spPr>
        <p:txBody>
          <a:bodyPr wrap="square" lIns="0" tIns="0" rIns="0" bIns="0" rtlCol="0" anchor="t"/>
          <a:lstStyle/>
          <a:p>
            <a:pPr indent="0" marL="0">
              <a:lnSpc>
                <a:spcPct val="115000"/>
              </a:lnSpc>
              <a:buNone/>
            </a:pPr>
            <a:r>
              <a:rPr lang="en-US" sz="1050" dirty="0">
                <a:solidFill>
                  <a:srgbClr val="A8B5BD"/>
                </a:solidFill>
                <a:latin typeface="Arial" pitchFamily="34" charset="0"/>
                <a:ea typeface="Arial" pitchFamily="34" charset="-122"/>
                <a:cs typeface="Arial" pitchFamily="34" charset="-120"/>
              </a:rPr>
              <a:t>Not a projection artifact: the 0.657 accuracy ceiling and these flat plots tell the same story — a real feature-information limit for single-frame classification.</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2026-07-16T01:37:20Z</dcterms:created>
  <dcterms:modified xsi:type="dcterms:W3CDTF">2026-07-16T01:37:20Z</dcterms:modified>
</cp:coreProperties>
</file>