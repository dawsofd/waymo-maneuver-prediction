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Geometry v2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Hough+VP camera-stitch bug — one example per maneuver class</a:t>
            </a:r>
            <a:endParaRPr lang="en-US" sz="1500" dirty="0"/>
          </a:p>
        </p:txBody>
      </p:sp>
      <p:pic>
        <p:nvPicPr>
          <p:cNvPr id="4" name="Image 0" descr="road_v2_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298448"/>
            <a:ext cx="8001000" cy="1714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177540"/>
            <a:ext cx="2572512" cy="1691640"/>
          </a:xfrm>
          <a:prstGeom prst="roundRect">
            <a:avLst>
              <a:gd name="adj" fmla="val 4324"/>
            </a:avLst>
          </a:prstGeom>
          <a:solidFill>
            <a:srgbClr val="162030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" y="329641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07470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32964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1792" y="3616452"/>
            <a:ext cx="224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Front-center only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1792" y="3945636"/>
            <a:ext cx="2243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ran Hough+VP across the full 3-camera stitched panorama. v2 restricts to the front-center segment, so vanishing points land inside frame bounds every time.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85744" y="3177540"/>
            <a:ext cx="2572512" cy="1691640"/>
          </a:xfrm>
          <a:prstGeom prst="roundRect">
            <a:avLst>
              <a:gd name="adj" fmla="val 4324"/>
            </a:avLst>
          </a:prstGeom>
          <a:solidFill>
            <a:srgbClr val="162030"/>
          </a:solidFill>
          <a:ln/>
        </p:spPr>
      </p:sp>
      <p:sp>
        <p:nvSpPr>
          <p:cNvPr id="11" name="Shape 8"/>
          <p:cNvSpPr/>
          <p:nvPr/>
        </p:nvSpPr>
        <p:spPr>
          <a:xfrm>
            <a:off x="3450336" y="329641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07470"/>
          </a:solidFill>
          <a:ln/>
        </p:spPr>
      </p:sp>
      <p:sp>
        <p:nvSpPr>
          <p:cNvPr id="12" name="Text 9"/>
          <p:cNvSpPr/>
          <p:nvPr/>
        </p:nvSpPr>
        <p:spPr>
          <a:xfrm>
            <a:off x="3450336" y="32964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works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50336" y="3616452"/>
            <a:ext cx="224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Inliers reject noise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50336" y="3945636"/>
            <a:ext cx="2243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Right-turn keeps 18/18 converging lines; lane-change-left drops to 9/16, correctly rejecting power lines and tree branches.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14288" y="3177540"/>
            <a:ext cx="2572512" cy="1691640"/>
          </a:xfrm>
          <a:prstGeom prst="roundRect">
            <a:avLst>
              <a:gd name="adj" fmla="val 4324"/>
            </a:avLst>
          </a:prstGeom>
          <a:solidFill>
            <a:srgbClr val="16203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78880" y="329641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5D2E32"/>
          </a:solidFill>
          <a:ln/>
        </p:spPr>
      </p:sp>
      <p:sp>
        <p:nvSpPr>
          <p:cNvPr id="17" name="Text 14"/>
          <p:cNvSpPr/>
          <p:nvPr/>
        </p:nvSpPr>
        <p:spPr>
          <a:xfrm>
            <a:off x="6278880" y="32964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But…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78880" y="3616452"/>
            <a:ext cx="224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unchanged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78880" y="3945636"/>
            <a:ext cx="2243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matches v1 to 3 decimals (0.657) either way. Road segmentation, not Hough/VP, was already carrying the signal.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CNN Embeddings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vs. ViT-B/16 — architecture comparison + real SVM/RF accuracy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162030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45336"/>
            <a:ext cx="384048" cy="384048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453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CLASSIFICATION-PRETRAINED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94944" y="1911096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" y="2276856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CNN, ImageNet-1k pretrained. Embedding = global-avg-pooled last conv layer.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" y="2715768"/>
            <a:ext cx="1094232" cy="347472"/>
          </a:xfrm>
          <a:prstGeom prst="roundRect">
            <a:avLst>
              <a:gd name="adj" fmla="val 15789"/>
            </a:avLst>
          </a:prstGeom>
          <a:solidFill>
            <a:srgbClr val="0D2A28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715768"/>
            <a:ext cx="1094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 dims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98904" y="2715768"/>
            <a:ext cx="1094232" cy="347472"/>
          </a:xfrm>
          <a:prstGeom prst="roundRect">
            <a:avLst>
              <a:gd name="adj" fmla="val 15789"/>
            </a:avLst>
          </a:prstGeom>
          <a:solidFill>
            <a:srgbClr val="0D2A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98904" y="2715768"/>
            <a:ext cx="1094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SVM: 0.571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2864" y="2715768"/>
            <a:ext cx="1094232" cy="347472"/>
          </a:xfrm>
          <a:prstGeom prst="roundRect">
            <a:avLst>
              <a:gd name="adj" fmla="val 15789"/>
            </a:avLst>
          </a:prstGeom>
          <a:solidFill>
            <a:srgbClr val="0D2A28"/>
          </a:solidFill>
          <a:ln/>
        </p:spPr>
      </p:sp>
      <p:sp>
        <p:nvSpPr>
          <p:cNvPr id="15" name="Text 13"/>
          <p:cNvSpPr/>
          <p:nvPr/>
        </p:nvSpPr>
        <p:spPr>
          <a:xfrm>
            <a:off x="3102864" y="2715768"/>
            <a:ext cx="1094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RF: 0.597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344168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162030"/>
          </a:solidFill>
          <a:ln/>
        </p:spPr>
      </p:sp>
      <p:sp>
        <p:nvSpPr>
          <p:cNvPr id="17" name="Shape 15"/>
          <p:cNvSpPr/>
          <p:nvPr/>
        </p:nvSpPr>
        <p:spPr>
          <a:xfrm>
            <a:off x="4946904" y="1545336"/>
            <a:ext cx="384048" cy="384048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18" name="Text 16"/>
          <p:cNvSpPr/>
          <p:nvPr/>
        </p:nvSpPr>
        <p:spPr>
          <a:xfrm>
            <a:off x="4946904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5453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SELF-ATTENTION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46904" y="1911096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ViT-B/16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46904" y="2276856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Transformer, ImageNet-1k pretrained. Embedding = pre-logits CLS token.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46904" y="2715768"/>
            <a:ext cx="1094232" cy="347472"/>
          </a:xfrm>
          <a:prstGeom prst="roundRect">
            <a:avLst>
              <a:gd name="adj" fmla="val 15789"/>
            </a:avLst>
          </a:prstGeom>
          <a:solidFill>
            <a:srgbClr val="0D2A28"/>
          </a:solidFill>
          <a:ln/>
        </p:spPr>
      </p:sp>
      <p:sp>
        <p:nvSpPr>
          <p:cNvPr id="23" name="Text 21"/>
          <p:cNvSpPr/>
          <p:nvPr/>
        </p:nvSpPr>
        <p:spPr>
          <a:xfrm>
            <a:off x="4946904" y="2715768"/>
            <a:ext cx="1094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 dims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50864" y="2715768"/>
            <a:ext cx="1094232" cy="347472"/>
          </a:xfrm>
          <a:prstGeom prst="roundRect">
            <a:avLst>
              <a:gd name="adj" fmla="val 15789"/>
            </a:avLst>
          </a:prstGeom>
          <a:solidFill>
            <a:srgbClr val="0D2A28"/>
          </a:solidFill>
          <a:ln/>
        </p:spPr>
      </p:sp>
      <p:sp>
        <p:nvSpPr>
          <p:cNvPr id="25" name="Text 23"/>
          <p:cNvSpPr/>
          <p:nvPr/>
        </p:nvSpPr>
        <p:spPr>
          <a:xfrm>
            <a:off x="6150864" y="2715768"/>
            <a:ext cx="1094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SVM: 0.535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54824" y="2715768"/>
            <a:ext cx="1094232" cy="347472"/>
          </a:xfrm>
          <a:prstGeom prst="roundRect">
            <a:avLst>
              <a:gd name="adj" fmla="val 15789"/>
            </a:avLst>
          </a:prstGeom>
          <a:solidFill>
            <a:srgbClr val="0D2A28"/>
          </a:solidFill>
          <a:ln/>
        </p:spPr>
      </p:sp>
      <p:sp>
        <p:nvSpPr>
          <p:cNvPr id="27" name="Text 25"/>
          <p:cNvSpPr/>
          <p:nvPr/>
        </p:nvSpPr>
        <p:spPr>
          <a:xfrm>
            <a:off x="7354824" y="2715768"/>
            <a:ext cx="1094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RF: 0.559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2572512" cy="1531620"/>
          </a:xfrm>
          <a:prstGeom prst="roundRect">
            <a:avLst>
              <a:gd name="adj" fmla="val 4776"/>
            </a:avLst>
          </a:prstGeom>
          <a:solidFill>
            <a:srgbClr val="16203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" y="346557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07470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3465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individually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3794760"/>
            <a:ext cx="224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(0.597 RF)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" y="4123944"/>
            <a:ext cx="2243328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out the YOLOv8s backbone (0.565 RF) and ViT (0.559 RF) — a classification objective may transfer slightly better here.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85744" y="3337560"/>
            <a:ext cx="2572512" cy="1531620"/>
          </a:xfrm>
          <a:prstGeom prst="roundRect">
            <a:avLst>
              <a:gd name="adj" fmla="val 4776"/>
            </a:avLst>
          </a:prstGeom>
          <a:solidFill>
            <a:srgbClr val="162030"/>
          </a:solidFill>
          <a:ln/>
        </p:spPr>
      </p:sp>
      <p:sp>
        <p:nvSpPr>
          <p:cNvPr id="34" name="Shape 32"/>
          <p:cNvSpPr/>
          <p:nvPr/>
        </p:nvSpPr>
        <p:spPr>
          <a:xfrm>
            <a:off x="3450336" y="346557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07470"/>
          </a:solidFill>
          <a:ln/>
        </p:spPr>
      </p:sp>
      <p:sp>
        <p:nvSpPr>
          <p:cNvPr id="35" name="Text 33"/>
          <p:cNvSpPr/>
          <p:nvPr/>
        </p:nvSpPr>
        <p:spPr>
          <a:xfrm>
            <a:off x="3450336" y="3465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structure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50336" y="3794760"/>
            <a:ext cx="224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non-class UMAP split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50336" y="4123944"/>
            <a:ext cx="2243328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embeddings show the same bimodal split, uncorrelated with maneuver class — likely lighting, not decision-relevant.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14288" y="3337560"/>
            <a:ext cx="2572512" cy="1531620"/>
          </a:xfrm>
          <a:prstGeom prst="roundRect">
            <a:avLst>
              <a:gd name="adj" fmla="val 4776"/>
            </a:avLst>
          </a:prstGeom>
          <a:solidFill>
            <a:srgbClr val="16203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78880" y="346557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D2E32"/>
          </a:solidFill>
          <a:ln/>
        </p:spPr>
      </p:sp>
      <p:sp>
        <p:nvSpPr>
          <p:cNvPr id="40" name="Text 38"/>
          <p:cNvSpPr/>
          <p:nvPr/>
        </p:nvSpPr>
        <p:spPr>
          <a:xfrm>
            <a:off x="6278880" y="3465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holds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78880" y="3794760"/>
            <a:ext cx="224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0.657 SVM — unchanged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78880" y="4123944"/>
            <a:ext cx="2243328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stacked together still cap at 0.657 SVM, same as YOLO alone. Architecture choice isn’t the bottleneck.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2026-07-16T01:24:40Z</dcterms:created>
  <dcterms:modified xsi:type="dcterms:W3CDTF">2026-07-16T01:24:40Z</dcterms:modified>
</cp:coreProperties>
</file>